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7" r:id="rId2"/>
    <p:sldId id="258" r:id="rId3"/>
    <p:sldId id="267" r:id="rId4"/>
    <p:sldId id="286" r:id="rId5"/>
    <p:sldId id="259" r:id="rId6"/>
    <p:sldId id="260" r:id="rId7"/>
    <p:sldId id="287" r:id="rId8"/>
    <p:sldId id="289" r:id="rId9"/>
    <p:sldId id="274" r:id="rId10"/>
    <p:sldId id="275" r:id="rId11"/>
    <p:sldId id="276" r:id="rId12"/>
    <p:sldId id="277" r:id="rId13"/>
    <p:sldId id="288" r:id="rId14"/>
    <p:sldId id="291" r:id="rId15"/>
    <p:sldId id="279" r:id="rId16"/>
    <p:sldId id="280" r:id="rId17"/>
    <p:sldId id="281" r:id="rId18"/>
    <p:sldId id="282" r:id="rId19"/>
    <p:sldId id="292" r:id="rId20"/>
    <p:sldId id="263" r:id="rId21"/>
    <p:sldId id="306" r:id="rId22"/>
    <p:sldId id="271" r:id="rId23"/>
    <p:sldId id="283" r:id="rId24"/>
    <p:sldId id="272" r:id="rId25"/>
    <p:sldId id="302" r:id="rId26"/>
    <p:sldId id="301" r:id="rId27"/>
    <p:sldId id="294" r:id="rId28"/>
    <p:sldId id="295" r:id="rId29"/>
    <p:sldId id="296" r:id="rId30"/>
    <p:sldId id="293" r:id="rId31"/>
    <p:sldId id="299" r:id="rId32"/>
    <p:sldId id="297" r:id="rId33"/>
    <p:sldId id="285" r:id="rId34"/>
    <p:sldId id="305" r:id="rId35"/>
    <p:sldId id="265" r:id="rId36"/>
    <p:sldId id="266" r:id="rId37"/>
    <p:sldId id="307" r:id="rId38"/>
    <p:sldId id="308" r:id="rId39"/>
    <p:sldId id="309" r:id="rId40"/>
    <p:sldId id="310" r:id="rId41"/>
    <p:sldId id="300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88"/>
    <p:restoredTop sz="96255"/>
  </p:normalViewPr>
  <p:slideViewPr>
    <p:cSldViewPr snapToGrid="0">
      <p:cViewPr varScale="1">
        <p:scale>
          <a:sx n="175" d="100"/>
          <a:sy n="175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E26EA0-D139-545A-869A-DE00F10BCA8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C621A8-FD52-E859-6DF4-3B6775C99C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43EC0-6558-5C4E-ADF1-A2B80F754E1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4737BF-6B3F-DA78-EB30-0C6109FEAE7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6FA80D-B090-9815-B3CE-863EF48F1C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6E387-E45E-5D4D-8661-84203C846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2247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83022-C31A-F64F-874F-F56C2BC471A1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09DEBB-1BA6-FA40-A27C-2EB44E55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8729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9DEBB-1BA6-FA40-A27C-2EB44E552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487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9DEBB-1BA6-FA40-A27C-2EB44E552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66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9DEBB-1BA6-FA40-A27C-2EB44E552CB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958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46F36-7A86-48AB-3AF7-0990EBDA16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DD14FD-B61A-B885-7C54-5329FBA6C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AB577-021F-035B-8682-6E3B8DC12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85F71-4146-264A-B8BE-B85F524AB0AE}" type="datetime1">
              <a:rPr lang="en-AU" smtClean="0"/>
              <a:t>29/9/2026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FBE6D-5DF7-4404-B12A-5AFD93170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970FB-70E6-B595-562A-DFDE134FC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11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C7B5-3EB2-BD13-3249-C4BB883AD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CE186-DBA0-3B0C-9D28-1511170D0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E48DF-E9C0-A965-6E0B-63BB68F84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D1A5-E25B-D442-BB3F-74F2E55DFFD2}" type="datetime1">
              <a:rPr lang="en-AU" smtClean="0"/>
              <a:t>29/9/2026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7D09D-6E00-0391-B4B4-51F6E37B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8BE72-9B80-8E58-ACEB-A852B0CE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06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15B4C-879F-3EA2-F589-6ED784F53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16BC5-F6D0-0E75-2BF7-37DCA0856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5BAD2-2635-00D3-3DF0-206E4E035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AFCA6-9539-CC45-9D05-0AE462FF1B26}" type="datetime1">
              <a:rPr lang="en-AU" smtClean="0"/>
              <a:t>29/9/2026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366FB-2BB3-2ACF-097D-E53327CD9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14DB3-A258-1CFA-69F8-CE2C21A0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066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6979-198F-7752-4633-1E0A7A028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0F962-32EC-F61A-F187-7EFFA0B1F0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BA76A-F687-008A-88F0-D19B6CB18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4984D-F94F-756F-CB63-9402CD6B5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CAFC-97EC-314E-8C8D-5073063F504F}" type="datetime1">
              <a:rPr lang="en-AU" smtClean="0"/>
              <a:t>29/9/2026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5E649-70C5-8E23-1D26-A013E32B5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94967-C82D-9505-82CB-5873186D1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19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4C919-BAD7-CF34-0838-3CE49894C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E122A-6A01-E1F0-DB39-85398E0D6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1D669E-6638-6AD5-B8EA-0BDA7EFA0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F8CB5-4BBB-E362-B2DD-77BD9E11C4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DDD90C-E5B5-2F68-184A-F1B7E93BAD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B3C184-49F1-35EB-845C-5E0735E20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8BC04-7BD2-1F4C-867A-4A09059656EA}" type="datetime1">
              <a:rPr lang="en-AU" smtClean="0"/>
              <a:t>29/9/2026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E7D2A5-5F9F-51AD-45D3-B5154FC2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65F094-CC20-78C3-45D1-AE2D00289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93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41B0-3865-1E7A-2B38-5C022A393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4C4BAA-1253-9EED-7015-C849B1C3C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3B0F5-501A-6F48-AEC6-E24E6ED833C4}" type="datetime1">
              <a:rPr lang="en-AU" smtClean="0"/>
              <a:t>29/9/2026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40E1D-08AC-8507-A18F-0CC856DD6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F9A9FB-3858-A227-5C7C-814C9AFD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339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A55A4D-EB01-5861-AF3F-1D31708D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906C6-8A06-7C4C-AAED-AF94B5B0BE17}" type="datetime1">
              <a:rPr lang="en-AU" smtClean="0"/>
              <a:t>29/9/2026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DDB14A-820F-C5B1-A075-A9FE5683D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92B7E-2F7D-853C-9527-9A47508B2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40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4DBA2-8296-6605-1FDA-1A38D743A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D5EEB-369F-34A1-55DD-F123D843C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FAD07-E3F4-DC5B-B889-F50C26DFD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C112E-3A20-AEB7-AE46-D99CA9498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953C7-ABC6-3141-A7AE-C0B871D2FDCB}" type="datetime1">
              <a:rPr lang="en-AU" smtClean="0"/>
              <a:t>29/9/2026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6F012-77C9-3BF4-C011-BE2968312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A90C4-5660-32AA-19B0-5CBC7249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525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C764D-3F16-16F3-1081-D03DDBF28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AE11CF-EC9D-6B7C-F161-5092380627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4760F-96E0-3CA6-B875-4862B1DD7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B02A5-D885-7ABC-6310-FB864911F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3F67-71DD-6742-8B31-B3B311DDCE6C}" type="datetime1">
              <a:rPr lang="en-AU" smtClean="0"/>
              <a:t>29/9/2026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315DB-47E5-6A5A-D3FE-4640D9FD2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2F37D-678B-3A2E-20F0-E1224F2E1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31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9F0A8-6F71-78DF-FCBC-10703A4BB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B90C22-A0FA-98D7-380F-A9A937C8B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EF2D0-1C0B-839F-530C-33CBE528F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A41DA-5079-4E41-B7E1-7A73BE0AC918}" type="datetime1">
              <a:rPr lang="en-AU" smtClean="0"/>
              <a:t>29/9/2026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E621C-86EC-4DC2-EA32-BF7246A25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1B6A5-EC71-1AC9-374F-E8D69E731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56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D82363-E08F-E211-BC2E-A8E8E5A6F1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4B0F5-9DA2-7D25-DCDA-5DEAB70F6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CDC8C-E43D-1798-C02C-64F461C5A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C6ABD-EA82-014D-B2A9-DDB80F87CC6A}" type="datetime1">
              <a:rPr lang="en-AU" smtClean="0"/>
              <a:t>29/9/2026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AD033-111F-EA54-D1DB-62F4083D7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41E62-0F7F-F8F3-5D7D-E9E3EAEE2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04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EF1383-4602-D3CA-8336-0BEB258B9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D5C54-4A0A-0B0C-557D-A12736AB9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528F7-8FDF-FA0C-AA8E-847F22BE55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06D3EC-6DAD-D14B-A374-DC1FFFBAE88F}" type="datetime1">
              <a:rPr lang="en-AU" smtClean="0"/>
              <a:t>29/9/2026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BE7FF-6B3F-8785-D14C-AC384240B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17821-651D-CE56-2CD8-FC3A47088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215280-66E8-4043-8135-C06CF6C06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57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1D440-967C-7410-D9E1-CC45E23E7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102" y="1582075"/>
            <a:ext cx="10375795" cy="2387600"/>
          </a:xfrm>
        </p:spPr>
        <p:txBody>
          <a:bodyPr>
            <a:normAutofit/>
          </a:bodyPr>
          <a:lstStyle/>
          <a:p>
            <a:r>
              <a:rPr lang="en-US" sz="5400" b="1" dirty="0"/>
              <a:t>Experienced-Based Belief Learning for Structured Animation Code Generation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A70987-B7E0-27EA-78EB-1FB713B66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181271"/>
            <a:ext cx="9144000" cy="2387599"/>
          </a:xfrm>
        </p:spPr>
        <p:txBody>
          <a:bodyPr>
            <a:normAutofit lnSpcReduction="10000"/>
          </a:bodyPr>
          <a:lstStyle/>
          <a:p>
            <a:r>
              <a:rPr lang="en-US" sz="2800" b="1" i="1" dirty="0"/>
              <a:t>Joshua Then</a:t>
            </a:r>
          </a:p>
          <a:p>
            <a:endParaRPr lang="en-US" sz="2000" b="1" i="1" dirty="0"/>
          </a:p>
          <a:p>
            <a:endParaRPr lang="en-US" sz="2000" b="1" i="1" dirty="0"/>
          </a:p>
          <a:p>
            <a:endParaRPr lang="en-US" sz="2000" b="1" i="1" dirty="0"/>
          </a:p>
          <a:p>
            <a:endParaRPr lang="en-US" sz="2000" b="1" i="1" dirty="0"/>
          </a:p>
          <a:p>
            <a:r>
              <a:rPr lang="en-US" sz="1800" b="1" i="1" dirty="0"/>
              <a:t>Supervisors: </a:t>
            </a:r>
            <a:r>
              <a:rPr lang="en-US" sz="1800" b="1" i="1" dirty="0" err="1"/>
              <a:t>Daochang</a:t>
            </a:r>
            <a:r>
              <a:rPr lang="en-US" sz="1800" b="1" i="1" dirty="0"/>
              <a:t> Liu, Wei Liu</a:t>
            </a:r>
          </a:p>
        </p:txBody>
      </p:sp>
    </p:spTree>
    <p:extLst>
      <p:ext uri="{BB962C8B-B14F-4D97-AF65-F5344CB8AC3E}">
        <p14:creationId xmlns:p14="http://schemas.microsoft.com/office/powerpoint/2010/main" val="2049230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95D01-2C79-1904-96A4-D2B173CE5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Structured Animation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C3DBD-828B-9A9D-95F6-7ACA8EE8C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7F2013E-2E36-1423-A786-4CB84FA2C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248044"/>
              </p:ext>
            </p:extLst>
          </p:nvPr>
        </p:nvGraphicFramePr>
        <p:xfrm>
          <a:off x="838199" y="1825625"/>
          <a:ext cx="10515600" cy="164592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6636399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8381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+mj-lt"/>
                        </a:rPr>
                        <a:t>Pixel-Based Video </a:t>
                      </a:r>
                      <a:r>
                        <a:rPr lang="en-US" sz="1400" b="0" dirty="0">
                          <a:latin typeface="+mn-lt"/>
                        </a:rPr>
                        <a:t>(</a:t>
                      </a:r>
                      <a:r>
                        <a:rPr lang="en-US" sz="1400" b="0" i="0" dirty="0">
                          <a:latin typeface="+mn-lt"/>
                        </a:rPr>
                        <a:t>Ho et al., 2022)</a:t>
                      </a:r>
                      <a:endParaRPr lang="en-US" sz="14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+mj-lt"/>
                        </a:rPr>
                        <a:t>Structured Animation Code </a:t>
                      </a:r>
                      <a:r>
                        <a:rPr lang="en-US" sz="1400" b="0" dirty="0">
                          <a:latin typeface="+mn-lt"/>
                        </a:rPr>
                        <a:t>(</a:t>
                      </a:r>
                      <a:r>
                        <a:rPr lang="en-US" sz="1400" b="0" i="0" dirty="0">
                          <a:latin typeface="+mn-lt"/>
                        </a:rPr>
                        <a:t>Chen et al., 2025)</a:t>
                      </a:r>
                      <a:endParaRPr lang="en-US" sz="14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371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Direct frame synthesis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No object-level representation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Outputs vary across generations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Generates executable code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Objects and timing are editable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Deterministic rendering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445394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25DB9BA4-63A4-E735-DAF4-F3892D2A93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82" t="8536" r="73941" b="44320"/>
          <a:stretch>
            <a:fillRect/>
          </a:stretch>
        </p:blipFill>
        <p:spPr>
          <a:xfrm>
            <a:off x="1344739" y="3897487"/>
            <a:ext cx="1614915" cy="174051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C0CE867-2AE3-3E82-333E-C762C08597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31" t="56363" r="73198" b="6553"/>
          <a:stretch>
            <a:fillRect/>
          </a:stretch>
        </p:blipFill>
        <p:spPr>
          <a:xfrm>
            <a:off x="9213826" y="4083743"/>
            <a:ext cx="1651945" cy="1368000"/>
          </a:xfrm>
          <a:prstGeom prst="corner">
            <a:avLst>
              <a:gd name="adj1" fmla="val 43472"/>
              <a:gd name="adj2" fmla="val 103265"/>
            </a:avLst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E511775-3F16-2810-9B0D-755913C7C636}"/>
              </a:ext>
            </a:extLst>
          </p:cNvPr>
          <p:cNvSpPr txBox="1"/>
          <p:nvPr/>
        </p:nvSpPr>
        <p:spPr>
          <a:xfrm>
            <a:off x="838197" y="5638000"/>
            <a:ext cx="26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+mj-lt"/>
              </a:rPr>
              <a:t>RGB Values in Frames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EBC826-C737-BF14-87E8-490719A3E50A}"/>
              </a:ext>
            </a:extLst>
          </p:cNvPr>
          <p:cNvSpPr txBox="1"/>
          <p:nvPr/>
        </p:nvSpPr>
        <p:spPr>
          <a:xfrm>
            <a:off x="4781998" y="5638000"/>
            <a:ext cx="26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+mj-lt"/>
              </a:rPr>
              <a:t>Video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80C9F-4E2A-6796-C2B5-81286F9FB304}"/>
              </a:ext>
            </a:extLst>
          </p:cNvPr>
          <p:cNvSpPr txBox="1"/>
          <p:nvPr/>
        </p:nvSpPr>
        <p:spPr>
          <a:xfrm>
            <a:off x="8725799" y="5638000"/>
            <a:ext cx="262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+mj-lt"/>
              </a:rPr>
              <a:t>Structured Animation Code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69C97AE-D9E8-325F-83D1-A08710C5D2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9544" y="3992145"/>
            <a:ext cx="2732908" cy="1551196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D607A6B-0479-DA9F-5CC3-FB0BEB353D91}"/>
              </a:ext>
            </a:extLst>
          </p:cNvPr>
          <p:cNvCxnSpPr>
            <a:cxnSpLocks/>
          </p:cNvCxnSpPr>
          <p:nvPr/>
        </p:nvCxnSpPr>
        <p:spPr>
          <a:xfrm>
            <a:off x="3545577" y="4864935"/>
            <a:ext cx="7566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C885C54-C1A2-AF20-13FB-1B967E1B0781}"/>
              </a:ext>
            </a:extLst>
          </p:cNvPr>
          <p:cNvCxnSpPr>
            <a:cxnSpLocks/>
          </p:cNvCxnSpPr>
          <p:nvPr/>
        </p:nvCxnSpPr>
        <p:spPr>
          <a:xfrm flipH="1">
            <a:off x="7889752" y="4864935"/>
            <a:ext cx="7566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953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4E936-6DB1-B67D-A5E3-DD2FAF018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F5204-4E4B-2B2B-BB6F-8811D898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Code2Video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6D407-0D1C-5D71-4DEA-4DD4C2416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Generates educational mathematics videos as structured animation code</a:t>
            </a:r>
          </a:p>
          <a:p>
            <a:r>
              <a:rPr lang="en-US" dirty="0"/>
              <a:t>Evaluates efficiency, aesthetics and educational quality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F48D7-2E08-C6C1-B527-AABE62157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D430F5-39B0-F07F-7D1F-CD1A5B24B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546530"/>
            <a:ext cx="10515601" cy="22671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D4AEDA-35CA-A186-7FE3-1D4ECA4A7D0E}"/>
              </a:ext>
            </a:extLst>
          </p:cNvPr>
          <p:cNvSpPr txBox="1"/>
          <p:nvPr/>
        </p:nvSpPr>
        <p:spPr>
          <a:xfrm>
            <a:off x="838199" y="6356350"/>
            <a:ext cx="2963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Reproduced from Chen et al. (2025).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78979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B03A6-3D34-3F31-65E6-26EA56EFF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83C96-B319-77B8-A1C0-0CDF90EA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4</a:t>
            </a:fld>
            <a:endParaRPr lang="en-US"/>
          </a:p>
        </p:txBody>
      </p:sp>
      <p:pic>
        <p:nvPicPr>
          <p:cNvPr id="7" name="Section1Scene">
            <a:hlinkClick r:id="" action="ppaction://media"/>
            <a:extLst>
              <a:ext uri="{FF2B5EF4-FFF2-40B4-BE49-F238E27FC236}">
                <a16:creationId xmlns:a16="http://schemas.microsoft.com/office/drawing/2014/main" id="{AD31E27D-5222-44B6-722D-E802A49EB394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1"/>
            <a:ext cx="12192000" cy="6857845"/>
          </a:xfrm>
        </p:spPr>
      </p:pic>
    </p:spTree>
    <p:extLst>
      <p:ext uri="{BB962C8B-B14F-4D97-AF65-F5344CB8AC3E}">
        <p14:creationId xmlns:p14="http://schemas.microsoft.com/office/powerpoint/2010/main" val="237021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6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6A083-EFC3-446E-E00B-24C0FCACA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2BA9C-CD29-CEAF-6917-0A138D6C1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Forgotten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0E639-3FF1-20B9-6EA1-2169F572E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Runs can come across similar failures and errors</a:t>
            </a:r>
          </a:p>
          <a:p>
            <a:r>
              <a:rPr lang="en-US" dirty="0"/>
              <a:t>No retention at the end of a run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i="1" dirty="0"/>
              <a:t>“Can execution experience be converted into reusable beliefs that guide subsequent runs?”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64340-8BDA-8648-7A1C-08464E6A2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217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0C9FF-F231-99CC-B3DC-48AEAA857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DB5A673-7CF8-5D38-3279-A78EE0C97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47" y="3545697"/>
            <a:ext cx="10514053" cy="24473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633262-D01B-FD37-A341-8C30DAFD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MAS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E23CE-5B05-0AA4-0F70-309D36B68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Produces structured, role-specific execution traces</a:t>
            </a:r>
          </a:p>
          <a:p>
            <a:r>
              <a:rPr lang="en-US" dirty="0"/>
              <a:t>Worker-orchestrator architecture, across 3 turns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1C5C8-CE6B-6E7C-C5B8-DDA12008E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95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ADBC0-CC86-C080-60F3-9D2604D58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0BEB86-84C3-E4B8-E76B-340FE6EE6C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52407" y="3546530"/>
            <a:ext cx="10487184" cy="22671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4455C3-F1FD-4EAF-C841-D0B0D691C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MAS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1CECF-096B-5753-E5FC-5FC7A7AD7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Produces structured, role-specific execution traces</a:t>
            </a:r>
          </a:p>
          <a:p>
            <a:r>
              <a:rPr lang="en-US" dirty="0"/>
              <a:t>Worker-orchestrator architecture, across 3 turns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7980D-DF79-D5D8-18BE-5F235D727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1B8928-AB59-477B-15B6-2390D4972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104" y="3938893"/>
            <a:ext cx="5058354" cy="11774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A474CF-C90B-06A0-9AE0-AA34B66DDC3B}"/>
              </a:ext>
            </a:extLst>
          </p:cNvPr>
          <p:cNvSpPr txBox="1"/>
          <p:nvPr/>
        </p:nvSpPr>
        <p:spPr>
          <a:xfrm>
            <a:off x="838199" y="6356350"/>
            <a:ext cx="2673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Adapted from Chen et al. (2025).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00746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666FB-E27A-6BD2-8827-C5D08B2AD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55401-461D-796F-DD59-D7E2BD03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Belief Generation 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51CA8-0B88-D46C-1F21-4C72D38B5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806160-D85C-9F04-EA80-F134714885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852408" y="1690688"/>
            <a:ext cx="5243592" cy="22671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892EFC-BC7C-ED8A-DBCE-63E0D1DD9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105" y="2083051"/>
            <a:ext cx="5058354" cy="1177443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1F8EC2A-AF29-1492-48B8-C492EA2AD1EA}"/>
              </a:ext>
            </a:extLst>
          </p:cNvPr>
          <p:cNvSpPr/>
          <p:nvPr/>
        </p:nvSpPr>
        <p:spPr>
          <a:xfrm>
            <a:off x="6096000" y="4760925"/>
            <a:ext cx="5142895" cy="123058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  <a:latin typeface="+mj-lt"/>
              </a:rPr>
              <a:t>BELIEF BASE</a:t>
            </a: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5EB67D9A-9BBC-DCBF-FABA-BE0BFE97447B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6096000" y="2671772"/>
            <a:ext cx="2571448" cy="629761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02A8F2B-B9F5-8C64-E987-CD6AFFB447CC}"/>
              </a:ext>
            </a:extLst>
          </p:cNvPr>
          <p:cNvCxnSpPr>
            <a:stCxn id="3" idx="2"/>
            <a:endCxn id="9" idx="0"/>
          </p:cNvCxnSpPr>
          <p:nvPr/>
        </p:nvCxnSpPr>
        <p:spPr>
          <a:xfrm>
            <a:off x="8667448" y="3871431"/>
            <a:ext cx="0" cy="88949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446239D-224D-EC07-B2A4-AD5743B40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301533"/>
            <a:ext cx="5142895" cy="569898"/>
          </a:xfrm>
          <a:prstGeom prst="rect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A28708B-CB6F-93DB-849C-2A6D8B456579}"/>
              </a:ext>
            </a:extLst>
          </p:cNvPr>
          <p:cNvSpPr txBox="1"/>
          <p:nvPr/>
        </p:nvSpPr>
        <p:spPr>
          <a:xfrm>
            <a:off x="6452174" y="2348955"/>
            <a:ext cx="18590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Execution artefacts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19B81D-93CE-4749-A6B8-AAB4CCB52CDE}"/>
              </a:ext>
            </a:extLst>
          </p:cNvPr>
          <p:cNvSpPr txBox="1"/>
          <p:nvPr/>
        </p:nvSpPr>
        <p:spPr>
          <a:xfrm>
            <a:off x="838199" y="6356350"/>
            <a:ext cx="2673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Adapted from Chen et al. (2025).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74438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3FE75-530D-60EB-AB08-84D383835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1C697-6738-7F41-A7A9-3A656ED92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Belief Generation 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1E8FD-99AB-3A78-0B48-CE779C8E7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0F8AC9-DDF3-B871-9EDE-73181BA0D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7"/>
            <a:ext cx="10547081" cy="116875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A77012-A80E-0490-D623-65EA64C81D5D}"/>
              </a:ext>
            </a:extLst>
          </p:cNvPr>
          <p:cNvSpPr txBox="1">
            <a:spLocks/>
          </p:cNvSpPr>
          <p:nvPr/>
        </p:nvSpPr>
        <p:spPr>
          <a:xfrm>
            <a:off x="838199" y="3429000"/>
            <a:ext cx="10515600" cy="2617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+mj-lt"/>
              </a:rPr>
              <a:t>Belief:</a:t>
            </a:r>
            <a:r>
              <a:rPr lang="en-US" dirty="0">
                <a:latin typeface="+mj-lt"/>
              </a:rPr>
              <a:t> </a:t>
            </a:r>
            <a:r>
              <a:rPr lang="en-US" dirty="0"/>
              <a:t>reusable natural-language instruction derived from evidence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Tool-calling logs, debugging attempts, visual reviews and evaluation results used as inputs</a:t>
            </a:r>
          </a:p>
          <a:p>
            <a:r>
              <a:rPr lang="en-US" dirty="0"/>
              <a:t>Produced full belief base as output</a:t>
            </a:r>
          </a:p>
        </p:txBody>
      </p:sp>
    </p:spTree>
    <p:extLst>
      <p:ext uri="{BB962C8B-B14F-4D97-AF65-F5344CB8AC3E}">
        <p14:creationId xmlns:p14="http://schemas.microsoft.com/office/powerpoint/2010/main" val="4115273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07E1D-205B-3E7D-F63C-28BBCC31A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D0EB9-02F5-9830-5C25-D83939902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Belief Generation Pipeline – Stage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E4801-C8B3-61B6-679A-2E1E7C385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10</a:t>
            </a:fld>
            <a:endParaRPr lang="en-US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091452A-944E-2B02-ACE2-021D594FEF5E}"/>
              </a:ext>
            </a:extLst>
          </p:cNvPr>
          <p:cNvSpPr txBox="1">
            <a:spLocks/>
          </p:cNvSpPr>
          <p:nvPr/>
        </p:nvSpPr>
        <p:spPr>
          <a:xfrm>
            <a:off x="838200" y="4112250"/>
            <a:ext cx="10515600" cy="206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Sequentially analyses run artefacts from each topic to produce candidate beliefs</a:t>
            </a:r>
          </a:p>
          <a:p>
            <a:r>
              <a:rPr lang="en-US" dirty="0"/>
              <a:t>Can add, match, revise or reject beliefs (added to log)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1E1DA8-F632-2496-F478-18BDAF644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3" r="70266"/>
          <a:stretch>
            <a:fillRect/>
          </a:stretch>
        </p:blipFill>
        <p:spPr>
          <a:xfrm>
            <a:off x="3396000" y="1690688"/>
            <a:ext cx="5400000" cy="206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317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9E6EB-CA15-91E6-6731-A60E4C2B4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FB1C0-E976-8812-6F08-A69AE1FCA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Belief Generation Pipeline – Stage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21C36-BB5C-4697-2B3C-5B5D5B7B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11</a:t>
            </a:fld>
            <a:endParaRPr lang="en-US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652935F7-B08E-1754-968F-AD90BA5D3AF4}"/>
              </a:ext>
            </a:extLst>
          </p:cNvPr>
          <p:cNvSpPr txBox="1">
            <a:spLocks/>
          </p:cNvSpPr>
          <p:nvPr/>
        </p:nvSpPr>
        <p:spPr>
          <a:xfrm>
            <a:off x="838200" y="4114274"/>
            <a:ext cx="10515600" cy="20626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Reviews all candidates and supporting observations together</a:t>
            </a:r>
          </a:p>
          <a:p>
            <a:r>
              <a:rPr lang="en-US" dirty="0"/>
              <a:t>Merges together similar beliefs</a:t>
            </a:r>
          </a:p>
          <a:p>
            <a:r>
              <a:rPr lang="en-US" dirty="0"/>
              <a:t>Resolves proposed revisions</a:t>
            </a:r>
          </a:p>
          <a:p>
            <a:r>
              <a:rPr lang="en-US" dirty="0"/>
              <a:t>Can also split, exclude or retain candidates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D3AEBE-F45F-A0D2-ECCA-350546B2F8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601" r="35389"/>
          <a:stretch>
            <a:fillRect/>
          </a:stretch>
        </p:blipFill>
        <p:spPr>
          <a:xfrm>
            <a:off x="3396000" y="1690688"/>
            <a:ext cx="5400000" cy="206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10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BEBC5-2DA1-7A51-DFC8-5B546FA92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5B5A9-BD33-1361-5CAB-A25459E40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Belief Generation Pipeline – Stage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BBB57-CB2F-5CE1-FE6D-87387F2E2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D1123D5C-0D63-F1A6-B3D9-6620069E46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112686"/>
                <a:ext cx="10515600" cy="206427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Categorical scores assigned for Strategy Application, Attribution Strength, Evidence Reliability and Outcome Improvement</a:t>
                </a:r>
              </a:p>
              <a:p>
                <a:r>
                  <a:rPr lang="en-US" dirty="0"/>
                  <a:t>Performs posterior effectiveness based on categorical scores and estimates effectiveness as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D1123D5C-0D63-F1A6-B3D9-6620069E4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12686"/>
                <a:ext cx="10515600" cy="2064276"/>
              </a:xfrm>
              <a:prstGeom prst="rect">
                <a:avLst/>
              </a:prstGeom>
              <a:blipFill>
                <a:blip r:embed="rId2"/>
                <a:stretch>
                  <a:fillRect l="-1086" t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B2F5904-65C2-7BDE-3CD1-BB4E1F7AE7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504" r="509"/>
          <a:stretch>
            <a:fillRect/>
          </a:stretch>
        </p:blipFill>
        <p:spPr>
          <a:xfrm>
            <a:off x="3396000" y="1690688"/>
            <a:ext cx="5400000" cy="206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465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49C6B-045B-4306-EE9C-C27FDE561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896E5-E8E6-8C37-7300-45867D8EB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Belief Generation 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CBEEF-622C-AFD8-E11A-3C694AA3A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61D0F4-D1F5-0DC9-FD39-E14D69694C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852408" y="1690688"/>
            <a:ext cx="5243592" cy="22671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F4A492-1A43-F9D1-9E85-6E53825C7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105" y="2083051"/>
            <a:ext cx="5058354" cy="1177443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9C568FC-B837-B34F-D706-0BA61B432EEA}"/>
              </a:ext>
            </a:extLst>
          </p:cNvPr>
          <p:cNvSpPr/>
          <p:nvPr/>
        </p:nvSpPr>
        <p:spPr>
          <a:xfrm>
            <a:off x="6096000" y="4760925"/>
            <a:ext cx="5142895" cy="123058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  <a:latin typeface="+mj-lt"/>
              </a:rPr>
              <a:t>BELIEF BASE</a:t>
            </a: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894099D8-E3B4-738D-3642-E041852A3B58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6096000" y="2671772"/>
            <a:ext cx="2571448" cy="629761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6EB26AC-C3E7-D88B-8F01-12AACFE6F626}"/>
              </a:ext>
            </a:extLst>
          </p:cNvPr>
          <p:cNvCxnSpPr>
            <a:stCxn id="3" idx="2"/>
            <a:endCxn id="9" idx="0"/>
          </p:cNvCxnSpPr>
          <p:nvPr/>
        </p:nvCxnSpPr>
        <p:spPr>
          <a:xfrm>
            <a:off x="8667448" y="3871431"/>
            <a:ext cx="0" cy="88949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8B6287A-3AC4-4D79-1CE0-8B59BE969AD2}"/>
              </a:ext>
            </a:extLst>
          </p:cNvPr>
          <p:cNvSpPr txBox="1"/>
          <p:nvPr/>
        </p:nvSpPr>
        <p:spPr>
          <a:xfrm>
            <a:off x="6452174" y="2348955"/>
            <a:ext cx="18590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Execution artefacts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9F18E3-8373-B72D-54E2-CBF59FDF1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301533"/>
            <a:ext cx="5142895" cy="569898"/>
          </a:xfrm>
          <a:prstGeom prst="rect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16E6B5-4615-7DC4-95EE-5DC6855E3C5B}"/>
              </a:ext>
            </a:extLst>
          </p:cNvPr>
          <p:cNvSpPr txBox="1"/>
          <p:nvPr/>
        </p:nvSpPr>
        <p:spPr>
          <a:xfrm>
            <a:off x="838199" y="6356350"/>
            <a:ext cx="2673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Adapted from Chen et al. (2025).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27049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2229E-7C90-7C43-A29B-6A9DE8C7B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BB119-830D-FF7B-30A8-DC83A513A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Belief Selection 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4A531-558D-ACCB-C24E-07960125A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B3EBA9-153F-6381-861B-9698223B41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852408" y="1690688"/>
            <a:ext cx="5243592" cy="22671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979D0A-6A0A-F1B2-923E-D8DF15A2C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105" y="2083051"/>
            <a:ext cx="5058354" cy="1177443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AF09915-4225-DBD0-5D52-87F6659BA116}"/>
              </a:ext>
            </a:extLst>
          </p:cNvPr>
          <p:cNvSpPr/>
          <p:nvPr/>
        </p:nvSpPr>
        <p:spPr>
          <a:xfrm>
            <a:off x="6096000" y="4760925"/>
            <a:ext cx="5142895" cy="123058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  <a:latin typeface="+mj-lt"/>
              </a:rPr>
              <a:t>BELIEF BASE</a:t>
            </a: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1DCEAC18-204E-608D-F57A-7DB906FDA7AF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6096000" y="2671772"/>
            <a:ext cx="2571448" cy="629761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C7EE080-C394-D41B-685C-E601DDAEE4AF}"/>
              </a:ext>
            </a:extLst>
          </p:cNvPr>
          <p:cNvCxnSpPr>
            <a:stCxn id="3" idx="2"/>
            <a:endCxn id="9" idx="0"/>
          </p:cNvCxnSpPr>
          <p:nvPr/>
        </p:nvCxnSpPr>
        <p:spPr>
          <a:xfrm>
            <a:off x="8667448" y="3871431"/>
            <a:ext cx="0" cy="88949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963DEE3-212E-97C3-0C6F-A918F4E33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301533"/>
            <a:ext cx="5142895" cy="569898"/>
          </a:xfrm>
          <a:prstGeom prst="rect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2B0A142-0C0E-965E-02AB-2D59CCB08721}"/>
              </a:ext>
            </a:extLst>
          </p:cNvPr>
          <p:cNvSpPr txBox="1"/>
          <p:nvPr/>
        </p:nvSpPr>
        <p:spPr>
          <a:xfrm>
            <a:off x="6452174" y="2348955"/>
            <a:ext cx="18590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Execution artefacts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A79023-4234-9D37-1458-2E1971964C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90" y="4034844"/>
            <a:ext cx="5243584" cy="562667"/>
          </a:xfrm>
          <a:prstGeom prst="rect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7A62CD-B3DB-B1E6-F3B4-050850698DB7}"/>
              </a:ext>
            </a:extLst>
          </p:cNvPr>
          <p:cNvCxnSpPr>
            <a:stCxn id="6" idx="0"/>
          </p:cNvCxnSpPr>
          <p:nvPr/>
        </p:nvCxnSpPr>
        <p:spPr>
          <a:xfrm flipV="1">
            <a:off x="3482282" y="3260494"/>
            <a:ext cx="0" cy="77435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5C44CD8-2DBE-8320-2832-66CE516BC1C7}"/>
              </a:ext>
            </a:extLst>
          </p:cNvPr>
          <p:cNvSpPr txBox="1"/>
          <p:nvPr/>
        </p:nvSpPr>
        <p:spPr>
          <a:xfrm>
            <a:off x="1845104" y="3488514"/>
            <a:ext cx="16291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Selected Beliefs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05E9307E-ED6B-7F6E-05F9-93D85F088E0A}"/>
              </a:ext>
            </a:extLst>
          </p:cNvPr>
          <p:cNvCxnSpPr/>
          <p:nvPr/>
        </p:nvCxnSpPr>
        <p:spPr>
          <a:xfrm rot="10800000">
            <a:off x="3482282" y="4597512"/>
            <a:ext cx="2613718" cy="778705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481EAF2-B144-7A79-0102-FB188319624B}"/>
              </a:ext>
            </a:extLst>
          </p:cNvPr>
          <p:cNvSpPr txBox="1"/>
          <p:nvPr/>
        </p:nvSpPr>
        <p:spPr>
          <a:xfrm>
            <a:off x="838199" y="6356350"/>
            <a:ext cx="2673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Adapted from Chen et al. (2025).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61349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1CC64-E58D-4826-433F-E0B5421AE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2E0B2-CF84-997D-4B56-244258FDD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Belief Selection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62C1F-2946-5F40-DE6D-A43A92B0A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CAFFAD-BD76-EA2A-6EBD-5CDFC475B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296" y="1690688"/>
            <a:ext cx="10545408" cy="113158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79C6CC-F249-3F64-BC2A-642DC6616666}"/>
              </a:ext>
            </a:extLst>
          </p:cNvPr>
          <p:cNvSpPr txBox="1">
            <a:spLocks/>
          </p:cNvSpPr>
          <p:nvPr/>
        </p:nvSpPr>
        <p:spPr>
          <a:xfrm>
            <a:off x="838199" y="3429000"/>
            <a:ext cx="10515600" cy="2617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Aim to select most relevant and applicable beliefs to current situation</a:t>
            </a:r>
          </a:p>
          <a:p>
            <a:r>
              <a:rPr lang="en-US" dirty="0"/>
              <a:t>Given full belief base as input</a:t>
            </a:r>
          </a:p>
        </p:txBody>
      </p:sp>
    </p:spTree>
    <p:extLst>
      <p:ext uri="{BB962C8B-B14F-4D97-AF65-F5344CB8AC3E}">
        <p14:creationId xmlns:p14="http://schemas.microsoft.com/office/powerpoint/2010/main" val="1968485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09AFE-75E5-B039-69AD-D3FDD3BDB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04ABD-8FA6-2460-662A-408B0797E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Belief Selection Framework – Stage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6FA6D-9601-5D61-7A18-A546A376C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D313E7-E856-B678-6BA6-BFFA5A2A3D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4" r="70330"/>
          <a:stretch>
            <a:fillRect/>
          </a:stretch>
        </p:blipFill>
        <p:spPr>
          <a:xfrm>
            <a:off x="3396000" y="1690688"/>
            <a:ext cx="5400000" cy="20115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A02F8-374A-A7DC-3604-5381AF836121}"/>
              </a:ext>
            </a:extLst>
          </p:cNvPr>
          <p:cNvSpPr txBox="1">
            <a:spLocks/>
          </p:cNvSpPr>
          <p:nvPr/>
        </p:nvSpPr>
        <p:spPr>
          <a:xfrm>
            <a:off x="838200" y="4112686"/>
            <a:ext cx="10515600" cy="206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Each belief classified by posterior effectiveness</a:t>
            </a:r>
          </a:p>
          <a:p>
            <a:r>
              <a:rPr lang="en-AU" dirty="0"/>
              <a:t>Filtered out beliefs that were contested and beliefs that weren’t assigned to the current agent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967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A2F58-76B7-DCF2-4BB6-84C9A9BD6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696A5-43BD-75FB-D43A-B5E94FDBD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Belief Selection Framework – Stage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44EAA-B601-506C-A98E-ECD46343F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3BB486-4C6B-F5AE-3877-C3901F5692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498" r="35695"/>
          <a:stretch>
            <a:fillRect/>
          </a:stretch>
        </p:blipFill>
        <p:spPr>
          <a:xfrm>
            <a:off x="3396000" y="1690688"/>
            <a:ext cx="5400000" cy="201158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4843F-0226-8148-4224-103A7C9FE786}"/>
              </a:ext>
            </a:extLst>
          </p:cNvPr>
          <p:cNvSpPr txBox="1">
            <a:spLocks/>
          </p:cNvSpPr>
          <p:nvPr/>
        </p:nvSpPr>
        <p:spPr>
          <a:xfrm>
            <a:off x="838200" y="4112686"/>
            <a:ext cx="10515600" cy="206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Scores assigned for matches in Exact Error, Problem, Context and Stage</a:t>
            </a:r>
          </a:p>
          <a:p>
            <a:r>
              <a:rPr lang="en-AU" dirty="0"/>
              <a:t>Semantic similarity involved the use of a BGE-small-en-v1.5 sentence-embedding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719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97E3D-9A4E-DF49-A5E6-2141D59E2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66308-245C-AA37-B919-47E834BB9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Belief Selection Framework – Stage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2F24C-95BF-1709-466D-35752AA89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60A1A0-156F-2E1D-72E1-EB1B2119F6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161" r="1018"/>
          <a:stretch>
            <a:fillRect/>
          </a:stretch>
        </p:blipFill>
        <p:spPr>
          <a:xfrm>
            <a:off x="3396000" y="1690688"/>
            <a:ext cx="5400000" cy="20105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902786-C6C6-39D5-73E6-3BEF089E0C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112686"/>
                <a:ext cx="10515600" cy="206427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Ranked beliefs based on Contextual Applicability “match” scores</a:t>
                </a:r>
              </a:p>
              <a:p>
                <a:r>
                  <a:rPr lang="en-AU" dirty="0"/>
                  <a:t>Sigmoid function used –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902786-C6C6-39D5-73E6-3BEF089E0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12686"/>
                <a:ext cx="10515600" cy="2064276"/>
              </a:xfrm>
              <a:prstGeom prst="rect">
                <a:avLst/>
              </a:prstGeom>
              <a:blipFill>
                <a:blip r:embed="rId3"/>
                <a:stretch>
                  <a:fillRect l="-1086" t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5075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11409-F06A-7C18-58A0-3DBD6C80A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E7D9F-FD50-2F02-8B14-1DBB50FD8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Belief Selection 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CF025-0D78-EAC2-0EA6-09E39DAF1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21136D-6BF4-E447-8943-14624C8E10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852408" y="1690688"/>
            <a:ext cx="5243592" cy="22671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0DCC58-50EB-B937-198D-F8363C5D5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105" y="2083051"/>
            <a:ext cx="5058354" cy="1177443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B73E531-0C5A-8FEC-C8B3-CE791F8AEF0E}"/>
              </a:ext>
            </a:extLst>
          </p:cNvPr>
          <p:cNvSpPr/>
          <p:nvPr/>
        </p:nvSpPr>
        <p:spPr>
          <a:xfrm>
            <a:off x="6096000" y="4760925"/>
            <a:ext cx="5142895" cy="123058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  <a:latin typeface="+mj-lt"/>
              </a:rPr>
              <a:t>BELIEF BASE</a:t>
            </a: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A6B98A82-D346-9C56-3F8C-B2634963243E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6096000" y="2671772"/>
            <a:ext cx="2571448" cy="629761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377A67A-1120-B7DE-C0FF-9236E06C9CF3}"/>
              </a:ext>
            </a:extLst>
          </p:cNvPr>
          <p:cNvCxnSpPr>
            <a:stCxn id="3" idx="2"/>
            <a:endCxn id="9" idx="0"/>
          </p:cNvCxnSpPr>
          <p:nvPr/>
        </p:nvCxnSpPr>
        <p:spPr>
          <a:xfrm>
            <a:off x="8667448" y="3871431"/>
            <a:ext cx="0" cy="88949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4320090-5DCF-CD63-3577-244C3B109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301533"/>
            <a:ext cx="5142895" cy="569898"/>
          </a:xfrm>
          <a:prstGeom prst="rect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1CA1B54-836B-C13E-903A-6F6C07D39CD1}"/>
              </a:ext>
            </a:extLst>
          </p:cNvPr>
          <p:cNvSpPr txBox="1"/>
          <p:nvPr/>
        </p:nvSpPr>
        <p:spPr>
          <a:xfrm>
            <a:off x="6452174" y="2348955"/>
            <a:ext cx="18590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Execution artefacts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0F2621-7EE3-6C22-6D38-D219B25109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90" y="4034844"/>
            <a:ext cx="5243584" cy="562667"/>
          </a:xfrm>
          <a:prstGeom prst="rect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06B7A05-DAE4-7D37-6404-2F1438E3AEB5}"/>
              </a:ext>
            </a:extLst>
          </p:cNvPr>
          <p:cNvCxnSpPr>
            <a:stCxn id="6" idx="0"/>
          </p:cNvCxnSpPr>
          <p:nvPr/>
        </p:nvCxnSpPr>
        <p:spPr>
          <a:xfrm flipV="1">
            <a:off x="3482282" y="3260494"/>
            <a:ext cx="0" cy="77435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784E313-397F-51D3-4FB0-24D063B34207}"/>
              </a:ext>
            </a:extLst>
          </p:cNvPr>
          <p:cNvSpPr txBox="1"/>
          <p:nvPr/>
        </p:nvSpPr>
        <p:spPr>
          <a:xfrm>
            <a:off x="1845104" y="3488514"/>
            <a:ext cx="16291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Selected Beliefs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DAADF3DA-6A92-5DB2-E4A7-0502B5097955}"/>
              </a:ext>
            </a:extLst>
          </p:cNvPr>
          <p:cNvCxnSpPr/>
          <p:nvPr/>
        </p:nvCxnSpPr>
        <p:spPr>
          <a:xfrm rot="10800000">
            <a:off x="3482282" y="4597512"/>
            <a:ext cx="2613718" cy="778705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4D9BE9C-063D-8854-CAF7-B4B70B739B33}"/>
              </a:ext>
            </a:extLst>
          </p:cNvPr>
          <p:cNvSpPr txBox="1"/>
          <p:nvPr/>
        </p:nvSpPr>
        <p:spPr>
          <a:xfrm>
            <a:off x="838199" y="6356350"/>
            <a:ext cx="2673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Adapted from Chen et al. (2025).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839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261B0-0EC6-C768-0ACB-231566AC1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4320-9DE2-0AF6-99DE-5B6853296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Injection Scopes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701E7-884C-0586-613B-AC0CF6B32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83683"/>
            <a:ext cx="1001358" cy="37230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i="1" dirty="0"/>
              <a:t>Broad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E2972-45B8-391A-60FA-A152ED701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20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AE484B-D677-1F62-2362-A6CB6D46F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660945"/>
              </p:ext>
            </p:extLst>
          </p:nvPr>
        </p:nvGraphicFramePr>
        <p:xfrm>
          <a:off x="838200" y="3328456"/>
          <a:ext cx="10515600" cy="128016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6636399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439561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8381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+mj-lt"/>
                        </a:rPr>
                        <a:t>Broad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+mj-lt"/>
                        </a:rPr>
                        <a:t>Coder-Wide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+mj-lt"/>
                        </a:rPr>
                        <a:t>Reactive Repair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7371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i="0" dirty="0"/>
                        <a:t>Top 5 beliefs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i="0" dirty="0"/>
                        <a:t>Every agent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i="0" dirty="0"/>
                        <a:t>Top 5 beliefs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i="0" dirty="0"/>
                        <a:t>Coder agent only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i="0" dirty="0"/>
                        <a:t>Top (1) belief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i="0" dirty="0"/>
                        <a:t>At runtime failure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55445394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BF2AFC3-CB31-2935-AE69-4598FFAB5AE4}"/>
              </a:ext>
            </a:extLst>
          </p:cNvPr>
          <p:cNvCxnSpPr/>
          <p:nvPr/>
        </p:nvCxnSpPr>
        <p:spPr>
          <a:xfrm>
            <a:off x="1959685" y="5369834"/>
            <a:ext cx="827263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000879-9B5D-28D7-186C-8F0D1C23AB1F}"/>
              </a:ext>
            </a:extLst>
          </p:cNvPr>
          <p:cNvSpPr txBox="1">
            <a:spLocks/>
          </p:cNvSpPr>
          <p:nvPr/>
        </p:nvSpPr>
        <p:spPr>
          <a:xfrm>
            <a:off x="990600" y="2067676"/>
            <a:ext cx="10515600" cy="963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i="1"/>
              <a:t>“Where should beliefs be injected?”</a:t>
            </a:r>
            <a:endParaRPr lang="en-US" b="1" i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E911F03-2E7C-35CC-00B1-5ED909219A59}"/>
              </a:ext>
            </a:extLst>
          </p:cNvPr>
          <p:cNvSpPr txBox="1">
            <a:spLocks/>
          </p:cNvSpPr>
          <p:nvPr/>
        </p:nvSpPr>
        <p:spPr>
          <a:xfrm>
            <a:off x="10352442" y="5183683"/>
            <a:ext cx="1001358" cy="372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i="1" dirty="0"/>
              <a:t>Narrow</a:t>
            </a:r>
          </a:p>
        </p:txBody>
      </p:sp>
    </p:spTree>
    <p:extLst>
      <p:ext uri="{BB962C8B-B14F-4D97-AF65-F5344CB8AC3E}">
        <p14:creationId xmlns:p14="http://schemas.microsoft.com/office/powerpoint/2010/main" val="3833320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359F2-16A2-C57F-DE49-7BC4CA9CF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59CF9-6E7E-D75A-1EAE-4080484EE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 1: General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41203-D8E5-EE06-535F-DE549A109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30-topic batches (individually run)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C5F2B-9643-E0C7-61B6-B79B7C598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21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F84A12B-1BE2-0084-1343-DDD7A8707B2B}"/>
              </a:ext>
            </a:extLst>
          </p:cNvPr>
          <p:cNvSpPr/>
          <p:nvPr/>
        </p:nvSpPr>
        <p:spPr>
          <a:xfrm>
            <a:off x="1539709" y="2585829"/>
            <a:ext cx="2464220" cy="906844"/>
          </a:xfrm>
          <a:prstGeom prst="roundRect">
            <a:avLst/>
          </a:prstGeom>
          <a:solidFill>
            <a:srgbClr val="CCCC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+mj-lt"/>
              </a:rPr>
              <a:t>BATCH 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42E8DE2-2FEA-A376-03F9-1D43CDFEB85E}"/>
              </a:ext>
            </a:extLst>
          </p:cNvPr>
          <p:cNvSpPr/>
          <p:nvPr/>
        </p:nvSpPr>
        <p:spPr>
          <a:xfrm>
            <a:off x="1539709" y="3841554"/>
            <a:ext cx="2464220" cy="906844"/>
          </a:xfrm>
          <a:prstGeom prst="roundRect">
            <a:avLst/>
          </a:prstGeom>
          <a:solidFill>
            <a:srgbClr val="CCCC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+mj-lt"/>
              </a:rPr>
              <a:t>BATCH B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B5CEEB4-80A2-9B34-1B48-7E6A6036D9F3}"/>
              </a:ext>
            </a:extLst>
          </p:cNvPr>
          <p:cNvSpPr/>
          <p:nvPr/>
        </p:nvSpPr>
        <p:spPr>
          <a:xfrm>
            <a:off x="1539709" y="5097279"/>
            <a:ext cx="2464220" cy="906844"/>
          </a:xfrm>
          <a:prstGeom prst="roundRect">
            <a:avLst/>
          </a:prstGeom>
          <a:solidFill>
            <a:srgbClr val="CCCC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+mj-lt"/>
              </a:rPr>
              <a:t>BATCH C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13E4952-BFA0-09A0-BB7A-8CCBDF108383}"/>
              </a:ext>
            </a:extLst>
          </p:cNvPr>
          <p:cNvSpPr/>
          <p:nvPr/>
        </p:nvSpPr>
        <p:spPr>
          <a:xfrm>
            <a:off x="7895166" y="2585829"/>
            <a:ext cx="2464220" cy="906844"/>
          </a:xfrm>
          <a:prstGeom prst="roundRect">
            <a:avLst/>
          </a:prstGeom>
          <a:solidFill>
            <a:srgbClr val="CCCC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+mj-lt"/>
              </a:rPr>
              <a:t>BATCH 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E35AB17-514C-6F10-E8BA-1D01EBE6ECFB}"/>
              </a:ext>
            </a:extLst>
          </p:cNvPr>
          <p:cNvSpPr/>
          <p:nvPr/>
        </p:nvSpPr>
        <p:spPr>
          <a:xfrm>
            <a:off x="7895166" y="3841554"/>
            <a:ext cx="2464220" cy="906844"/>
          </a:xfrm>
          <a:prstGeom prst="roundRect">
            <a:avLst/>
          </a:prstGeom>
          <a:solidFill>
            <a:srgbClr val="CCCC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+mj-lt"/>
              </a:rPr>
              <a:t>BATCH B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C138F77-AB53-B88F-88AC-E4520C5AF777}"/>
              </a:ext>
            </a:extLst>
          </p:cNvPr>
          <p:cNvSpPr/>
          <p:nvPr/>
        </p:nvSpPr>
        <p:spPr>
          <a:xfrm>
            <a:off x="7895166" y="5097279"/>
            <a:ext cx="2464220" cy="906844"/>
          </a:xfrm>
          <a:prstGeom prst="roundRect">
            <a:avLst/>
          </a:prstGeom>
          <a:solidFill>
            <a:srgbClr val="CCCC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+mj-lt"/>
              </a:rPr>
              <a:t>BATCH 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6BD769-D29E-3DAA-2099-9997AE6BD041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4003929" y="3039251"/>
            <a:ext cx="389123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5A637DC-7F2C-2EE8-1C10-F55D6289E972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4003929" y="4294976"/>
            <a:ext cx="389123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B64281-9E30-C7CC-1A91-FEDE9A6F5ADC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4003929" y="5550701"/>
            <a:ext cx="389123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5E7266C-807B-DBAB-6288-7A459B4240EE}"/>
              </a:ext>
            </a:extLst>
          </p:cNvPr>
          <p:cNvSpPr txBox="1"/>
          <p:nvPr/>
        </p:nvSpPr>
        <p:spPr>
          <a:xfrm>
            <a:off x="2421402" y="6004123"/>
            <a:ext cx="70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Beliefs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5B4140-45C9-C335-ECE6-B0158CA23895}"/>
              </a:ext>
            </a:extLst>
          </p:cNvPr>
          <p:cNvSpPr txBox="1"/>
          <p:nvPr/>
        </p:nvSpPr>
        <p:spPr>
          <a:xfrm>
            <a:off x="8352384" y="6004123"/>
            <a:ext cx="15497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Generation Topics</a:t>
            </a:r>
          </a:p>
        </p:txBody>
      </p:sp>
    </p:spTree>
    <p:extLst>
      <p:ext uri="{BB962C8B-B14F-4D97-AF65-F5344CB8AC3E}">
        <p14:creationId xmlns:p14="http://schemas.microsoft.com/office/powerpoint/2010/main" val="3080396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CD992-4D60-6EE8-9F36-BC28BB0A3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30-topic batches (individually run)</a:t>
            </a:r>
          </a:p>
          <a:p>
            <a:r>
              <a:rPr lang="en-US" dirty="0"/>
              <a:t>Calculated improvement for a given topic with and without beliefs</a:t>
            </a:r>
          </a:p>
          <a:p>
            <a:r>
              <a:rPr lang="en-US" dirty="0"/>
              <a:t>95% CI with 50,000 replacements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194E09-79A9-A051-BF21-82ACA1CBA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 1: General Improvement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1E9C6-4F65-F197-7329-A6B36AA08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1AD4588-35C9-19A0-5E65-877F0E5277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6174145"/>
                  </p:ext>
                </p:extLst>
              </p:nvPr>
            </p:nvGraphicFramePr>
            <p:xfrm>
              <a:off x="838194" y="3656501"/>
              <a:ext cx="10515606" cy="2286000"/>
            </p:xfrm>
            <a:graphic>
              <a:graphicData uri="http://schemas.openxmlformats.org/drawingml/2006/table">
                <a:tbl>
                  <a:tblPr bandRow="1">
                    <a:tableStyleId>{9D7B26C5-4107-4FEC-AEDC-1716B250A1EF}</a:tableStyleId>
                  </a:tblPr>
                  <a:tblGrid>
                    <a:gridCol w="1403838">
                      <a:extLst>
                        <a:ext uri="{9D8B030D-6E8A-4147-A177-3AD203B41FA5}">
                          <a16:colId xmlns:a16="http://schemas.microsoft.com/office/drawing/2014/main" val="4191917284"/>
                        </a:ext>
                      </a:extLst>
                    </a:gridCol>
                    <a:gridCol w="2083777">
                      <a:extLst>
                        <a:ext uri="{9D8B030D-6E8A-4147-A177-3AD203B41FA5}">
                          <a16:colId xmlns:a16="http://schemas.microsoft.com/office/drawing/2014/main" val="2705022096"/>
                        </a:ext>
                      </a:extLst>
                    </a:gridCol>
                    <a:gridCol w="2136531">
                      <a:extLst>
                        <a:ext uri="{9D8B030D-6E8A-4147-A177-3AD203B41FA5}">
                          <a16:colId xmlns:a16="http://schemas.microsoft.com/office/drawing/2014/main" val="88359198"/>
                        </a:ext>
                      </a:extLst>
                    </a:gridCol>
                    <a:gridCol w="1749669">
                      <a:extLst>
                        <a:ext uri="{9D8B030D-6E8A-4147-A177-3AD203B41FA5}">
                          <a16:colId xmlns:a16="http://schemas.microsoft.com/office/drawing/2014/main" val="66363991"/>
                        </a:ext>
                      </a:extLst>
                    </a:gridCol>
                    <a:gridCol w="2268416">
                      <a:extLst>
                        <a:ext uri="{9D8B030D-6E8A-4147-A177-3AD203B41FA5}">
                          <a16:colId xmlns:a16="http://schemas.microsoft.com/office/drawing/2014/main" val="2143956138"/>
                        </a:ext>
                      </a:extLst>
                    </a:gridCol>
                    <a:gridCol w="873375">
                      <a:extLst>
                        <a:ext uri="{9D8B030D-6E8A-4147-A177-3AD203B41FA5}">
                          <a16:colId xmlns:a16="http://schemas.microsoft.com/office/drawing/2014/main" val="12838111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2000" b="0" dirty="0">
                            <a:latin typeface="+mj-lt"/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>
                              <a:latin typeface="+mj-lt"/>
                            </a:rPr>
                            <a:t>Mean </a:t>
                          </a:r>
                          <a:r>
                            <a:rPr lang="en-US" sz="2000" b="0" dirty="0" err="1">
                              <a:latin typeface="+mj-lt"/>
                            </a:rPr>
                            <a:t>Favourable</a:t>
                          </a:r>
                          <a:r>
                            <a:rPr lang="en-US" sz="2000" b="0" dirty="0">
                              <a:latin typeface="+mj-lt"/>
                            </a:rPr>
                            <a:t> Change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>
                              <a:latin typeface="+mj-lt"/>
                            </a:rPr>
                            <a:t>95% Bootstrap CI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kern="1200" dirty="0">
                              <a:solidFill>
                                <a:schemeClr val="tx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Unadjusted </a:t>
                          </a:r>
                          <a14:m>
                            <m:oMath xmlns:m="http://schemas.openxmlformats.org/officeDocument/2006/math">
                              <m:r>
                                <a:rPr lang="en-AU" sz="20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𝒑</m:t>
                              </m:r>
                            </m:oMath>
                          </a14:m>
                          <a:endParaRPr lang="en-US" sz="2000" b="1" kern="1200" dirty="0">
                            <a:solidFill>
                              <a:schemeClr val="tx1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kern="1200" dirty="0">
                              <a:solidFill>
                                <a:schemeClr val="tx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Holm-Adjusted </a:t>
                          </a:r>
                          <a14:m>
                            <m:oMath xmlns:m="http://schemas.openxmlformats.org/officeDocument/2006/math">
                              <m:r>
                                <a:rPr lang="en-AU" sz="20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𝒑</m:t>
                              </m:r>
                            </m:oMath>
                          </a14:m>
                          <a:endParaRPr lang="en-US" sz="2000" b="1" kern="1200" dirty="0">
                            <a:solidFill>
                              <a:schemeClr val="tx1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20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AU" sz="20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en-AU" sz="20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b="1" kern="1200" dirty="0">
                              <a:solidFill>
                                <a:schemeClr val="tx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373716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b="1" dirty="0"/>
                            <a:t>Time (min)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+0.06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-0.36 to +0.58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0.8293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1.0000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0.03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207387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b="1" dirty="0"/>
                            <a:t>Tokens (k)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+23.08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+7.96 to +38.35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0.0039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0.0157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0.31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00543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b="1" dirty="0"/>
                            <a:t>Aesthetics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+0.14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-2.27 to +2.50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0.9141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11507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b="1" dirty="0" err="1"/>
                            <a:t>TeachQuiz</a:t>
                          </a:r>
                          <a:endParaRPr lang="en-US" sz="2000" b="1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+2.22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-2.67 to +6.89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0.4172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0.10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21198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1AD4588-35C9-19A0-5E65-877F0E5277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6174145"/>
                  </p:ext>
                </p:extLst>
              </p:nvPr>
            </p:nvGraphicFramePr>
            <p:xfrm>
              <a:off x="838194" y="3656501"/>
              <a:ext cx="10515606" cy="2286000"/>
            </p:xfrm>
            <a:graphic>
              <a:graphicData uri="http://schemas.openxmlformats.org/drawingml/2006/table">
                <a:tbl>
                  <a:tblPr bandRow="1">
                    <a:tableStyleId>{9D7B26C5-4107-4FEC-AEDC-1716B250A1EF}</a:tableStyleId>
                  </a:tblPr>
                  <a:tblGrid>
                    <a:gridCol w="1403838">
                      <a:extLst>
                        <a:ext uri="{9D8B030D-6E8A-4147-A177-3AD203B41FA5}">
                          <a16:colId xmlns:a16="http://schemas.microsoft.com/office/drawing/2014/main" val="4191917284"/>
                        </a:ext>
                      </a:extLst>
                    </a:gridCol>
                    <a:gridCol w="2083777">
                      <a:extLst>
                        <a:ext uri="{9D8B030D-6E8A-4147-A177-3AD203B41FA5}">
                          <a16:colId xmlns:a16="http://schemas.microsoft.com/office/drawing/2014/main" val="2705022096"/>
                        </a:ext>
                      </a:extLst>
                    </a:gridCol>
                    <a:gridCol w="2136531">
                      <a:extLst>
                        <a:ext uri="{9D8B030D-6E8A-4147-A177-3AD203B41FA5}">
                          <a16:colId xmlns:a16="http://schemas.microsoft.com/office/drawing/2014/main" val="88359198"/>
                        </a:ext>
                      </a:extLst>
                    </a:gridCol>
                    <a:gridCol w="1749669">
                      <a:extLst>
                        <a:ext uri="{9D8B030D-6E8A-4147-A177-3AD203B41FA5}">
                          <a16:colId xmlns:a16="http://schemas.microsoft.com/office/drawing/2014/main" val="66363991"/>
                        </a:ext>
                      </a:extLst>
                    </a:gridCol>
                    <a:gridCol w="2268416">
                      <a:extLst>
                        <a:ext uri="{9D8B030D-6E8A-4147-A177-3AD203B41FA5}">
                          <a16:colId xmlns:a16="http://schemas.microsoft.com/office/drawing/2014/main" val="2143956138"/>
                        </a:ext>
                      </a:extLst>
                    </a:gridCol>
                    <a:gridCol w="873375">
                      <a:extLst>
                        <a:ext uri="{9D8B030D-6E8A-4147-A177-3AD203B41FA5}">
                          <a16:colId xmlns:a16="http://schemas.microsoft.com/office/drawing/2014/main" val="128381110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endParaRPr lang="en-US" sz="2000" b="0" dirty="0">
                            <a:latin typeface="+mj-lt"/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>
                              <a:latin typeface="+mj-lt"/>
                            </a:rPr>
                            <a:t>Mean </a:t>
                          </a:r>
                          <a:r>
                            <a:rPr lang="en-US" sz="2000" b="0" dirty="0" err="1">
                              <a:latin typeface="+mj-lt"/>
                            </a:rPr>
                            <a:t>Favourable</a:t>
                          </a:r>
                          <a:r>
                            <a:rPr lang="en-US" sz="2000" b="0" dirty="0">
                              <a:latin typeface="+mj-lt"/>
                            </a:rPr>
                            <a:t> Change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>
                              <a:latin typeface="+mj-lt"/>
                            </a:rPr>
                            <a:t>95% Bootstrap CI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1014" t="-3571" r="-180435" b="-239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4581" t="-3571" r="-39106" b="-239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01449" t="-3571" r="-1449" b="-239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737166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b="1" dirty="0"/>
                            <a:t>Time (min)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+0.06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-0.36 to +0.58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0.8293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1.0000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0.03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207387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b="1" dirty="0"/>
                            <a:t>Tokens (k)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+23.08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+7.96 to +38.35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0.0039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0.0157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0.31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005436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b="1" dirty="0"/>
                            <a:t>Aesthetics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+0.14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-2.27 to +2.50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0.9141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115079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b="1" dirty="0" err="1"/>
                            <a:t>TeachQuiz</a:t>
                          </a:r>
                          <a:endParaRPr lang="en-US" sz="2000" b="1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+2.22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-2.67 to +6.89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0.4172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0.10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21198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50155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20C7A-6E67-FFCC-4836-C67E4D9B3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4897D-F996-2043-1B15-0A3A03A09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Evidence of statistically significant improvement in token usage</a:t>
            </a:r>
          </a:p>
          <a:p>
            <a:r>
              <a:rPr lang="en-US" dirty="0"/>
              <a:t>No significant change in other metrics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7833A5-16A3-CFA4-D4E4-74E32D617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 1: General Improvement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947B5-5F65-3A9E-FE3F-170F24CED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C2FF905-32C0-17E9-2A99-B8C1A32E05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5727624"/>
                  </p:ext>
                </p:extLst>
              </p:nvPr>
            </p:nvGraphicFramePr>
            <p:xfrm>
              <a:off x="838194" y="3656501"/>
              <a:ext cx="10515606" cy="2286000"/>
            </p:xfrm>
            <a:graphic>
              <a:graphicData uri="http://schemas.openxmlformats.org/drawingml/2006/table">
                <a:tbl>
                  <a:tblPr bandRow="1">
                    <a:tableStyleId>{9D7B26C5-4107-4FEC-AEDC-1716B250A1EF}</a:tableStyleId>
                  </a:tblPr>
                  <a:tblGrid>
                    <a:gridCol w="1403838">
                      <a:extLst>
                        <a:ext uri="{9D8B030D-6E8A-4147-A177-3AD203B41FA5}">
                          <a16:colId xmlns:a16="http://schemas.microsoft.com/office/drawing/2014/main" val="4191917284"/>
                        </a:ext>
                      </a:extLst>
                    </a:gridCol>
                    <a:gridCol w="2083777">
                      <a:extLst>
                        <a:ext uri="{9D8B030D-6E8A-4147-A177-3AD203B41FA5}">
                          <a16:colId xmlns:a16="http://schemas.microsoft.com/office/drawing/2014/main" val="2705022096"/>
                        </a:ext>
                      </a:extLst>
                    </a:gridCol>
                    <a:gridCol w="2136531">
                      <a:extLst>
                        <a:ext uri="{9D8B030D-6E8A-4147-A177-3AD203B41FA5}">
                          <a16:colId xmlns:a16="http://schemas.microsoft.com/office/drawing/2014/main" val="88359198"/>
                        </a:ext>
                      </a:extLst>
                    </a:gridCol>
                    <a:gridCol w="1749669">
                      <a:extLst>
                        <a:ext uri="{9D8B030D-6E8A-4147-A177-3AD203B41FA5}">
                          <a16:colId xmlns:a16="http://schemas.microsoft.com/office/drawing/2014/main" val="66363991"/>
                        </a:ext>
                      </a:extLst>
                    </a:gridCol>
                    <a:gridCol w="2268416">
                      <a:extLst>
                        <a:ext uri="{9D8B030D-6E8A-4147-A177-3AD203B41FA5}">
                          <a16:colId xmlns:a16="http://schemas.microsoft.com/office/drawing/2014/main" val="2143956138"/>
                        </a:ext>
                      </a:extLst>
                    </a:gridCol>
                    <a:gridCol w="873375">
                      <a:extLst>
                        <a:ext uri="{9D8B030D-6E8A-4147-A177-3AD203B41FA5}">
                          <a16:colId xmlns:a16="http://schemas.microsoft.com/office/drawing/2014/main" val="12838111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2000" b="0" dirty="0">
                            <a:latin typeface="+mj-lt"/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>
                              <a:latin typeface="+mj-lt"/>
                            </a:rPr>
                            <a:t>Mean </a:t>
                          </a:r>
                          <a:r>
                            <a:rPr lang="en-US" sz="2000" b="0" dirty="0" err="1">
                              <a:latin typeface="+mj-lt"/>
                            </a:rPr>
                            <a:t>Favourable</a:t>
                          </a:r>
                          <a:r>
                            <a:rPr lang="en-US" sz="2000" b="0" dirty="0">
                              <a:latin typeface="+mj-lt"/>
                            </a:rPr>
                            <a:t> Change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>
                              <a:latin typeface="+mj-lt"/>
                            </a:rPr>
                            <a:t>95% Bootstrap CI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kern="1200" dirty="0">
                              <a:solidFill>
                                <a:schemeClr val="tx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Unadjusted </a:t>
                          </a:r>
                          <a14:m>
                            <m:oMath xmlns:m="http://schemas.openxmlformats.org/officeDocument/2006/math">
                              <m:r>
                                <a:rPr lang="en-AU" sz="20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𝒑</m:t>
                              </m:r>
                            </m:oMath>
                          </a14:m>
                          <a:endParaRPr lang="en-US" sz="2000" b="1" kern="1200" dirty="0">
                            <a:solidFill>
                              <a:schemeClr val="tx1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kern="1200" dirty="0">
                              <a:solidFill>
                                <a:schemeClr val="tx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Holm-Adjusted </a:t>
                          </a:r>
                          <a14:m>
                            <m:oMath xmlns:m="http://schemas.openxmlformats.org/officeDocument/2006/math">
                              <m:r>
                                <a:rPr lang="en-AU" sz="20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𝒑</m:t>
                              </m:r>
                            </m:oMath>
                          </a14:m>
                          <a:endParaRPr lang="en-US" sz="2000" b="1" kern="1200" dirty="0">
                            <a:solidFill>
                              <a:schemeClr val="tx1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20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AU" sz="20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en-AU" sz="20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b="1" kern="1200" dirty="0">
                              <a:solidFill>
                                <a:schemeClr val="tx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373716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b="1" dirty="0"/>
                            <a:t>Time (min)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+0.06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-0.36 to +0.58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0.8293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1.0000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0.03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207387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b="1" dirty="0"/>
                            <a:t>Tokens (k)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i="0" u="none" kern="1200" dirty="0">
                              <a:solidFill>
                                <a:schemeClr val="tx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+23.08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i="0" u="none" kern="1200" dirty="0">
                              <a:solidFill>
                                <a:schemeClr val="tx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+7.96 to +38.35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i="0" u="none" kern="1200" dirty="0">
                              <a:solidFill>
                                <a:schemeClr val="tx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0.0039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i="0" u="none" kern="1200" dirty="0">
                              <a:solidFill>
                                <a:schemeClr val="tx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0.0157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i="0" u="none" kern="1200" dirty="0">
                              <a:solidFill>
                                <a:schemeClr val="tx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0.31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00543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b="1" dirty="0"/>
                            <a:t>Aesthetics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+0.14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-2.27 to +2.50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0.9141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11507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b="1" dirty="0" err="1"/>
                            <a:t>TeachQuiz</a:t>
                          </a:r>
                          <a:endParaRPr lang="en-US" sz="2000" b="1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+2.22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-2.67 to +6.89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0.4172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0.10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21198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C2FF905-32C0-17E9-2A99-B8C1A32E05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5727624"/>
                  </p:ext>
                </p:extLst>
              </p:nvPr>
            </p:nvGraphicFramePr>
            <p:xfrm>
              <a:off x="838194" y="3656501"/>
              <a:ext cx="10515606" cy="2286000"/>
            </p:xfrm>
            <a:graphic>
              <a:graphicData uri="http://schemas.openxmlformats.org/drawingml/2006/table">
                <a:tbl>
                  <a:tblPr bandRow="1">
                    <a:tableStyleId>{9D7B26C5-4107-4FEC-AEDC-1716B250A1EF}</a:tableStyleId>
                  </a:tblPr>
                  <a:tblGrid>
                    <a:gridCol w="1403838">
                      <a:extLst>
                        <a:ext uri="{9D8B030D-6E8A-4147-A177-3AD203B41FA5}">
                          <a16:colId xmlns:a16="http://schemas.microsoft.com/office/drawing/2014/main" val="4191917284"/>
                        </a:ext>
                      </a:extLst>
                    </a:gridCol>
                    <a:gridCol w="2083777">
                      <a:extLst>
                        <a:ext uri="{9D8B030D-6E8A-4147-A177-3AD203B41FA5}">
                          <a16:colId xmlns:a16="http://schemas.microsoft.com/office/drawing/2014/main" val="2705022096"/>
                        </a:ext>
                      </a:extLst>
                    </a:gridCol>
                    <a:gridCol w="2136531">
                      <a:extLst>
                        <a:ext uri="{9D8B030D-6E8A-4147-A177-3AD203B41FA5}">
                          <a16:colId xmlns:a16="http://schemas.microsoft.com/office/drawing/2014/main" val="88359198"/>
                        </a:ext>
                      </a:extLst>
                    </a:gridCol>
                    <a:gridCol w="1749669">
                      <a:extLst>
                        <a:ext uri="{9D8B030D-6E8A-4147-A177-3AD203B41FA5}">
                          <a16:colId xmlns:a16="http://schemas.microsoft.com/office/drawing/2014/main" val="66363991"/>
                        </a:ext>
                      </a:extLst>
                    </a:gridCol>
                    <a:gridCol w="2268416">
                      <a:extLst>
                        <a:ext uri="{9D8B030D-6E8A-4147-A177-3AD203B41FA5}">
                          <a16:colId xmlns:a16="http://schemas.microsoft.com/office/drawing/2014/main" val="2143956138"/>
                        </a:ext>
                      </a:extLst>
                    </a:gridCol>
                    <a:gridCol w="873375">
                      <a:extLst>
                        <a:ext uri="{9D8B030D-6E8A-4147-A177-3AD203B41FA5}">
                          <a16:colId xmlns:a16="http://schemas.microsoft.com/office/drawing/2014/main" val="128381110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endParaRPr lang="en-US" sz="2000" b="0" dirty="0">
                            <a:latin typeface="+mj-lt"/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>
                              <a:latin typeface="+mj-lt"/>
                            </a:rPr>
                            <a:t>Mean </a:t>
                          </a:r>
                          <a:r>
                            <a:rPr lang="en-US" sz="2000" b="0" dirty="0" err="1">
                              <a:latin typeface="+mj-lt"/>
                            </a:rPr>
                            <a:t>Favourable</a:t>
                          </a:r>
                          <a:r>
                            <a:rPr lang="en-US" sz="2000" b="0" dirty="0">
                              <a:latin typeface="+mj-lt"/>
                            </a:rPr>
                            <a:t> Change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>
                              <a:latin typeface="+mj-lt"/>
                            </a:rPr>
                            <a:t>95% Bootstrap CI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1014" t="-3571" r="-180435" b="-239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4581" t="-3571" r="-39106" b="-239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01449" t="-3571" r="-1449" b="-239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737166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b="1" dirty="0"/>
                            <a:t>Time (min)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+0.06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-0.36 to +0.58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0.8293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1.0000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0.03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207387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b="1" dirty="0"/>
                            <a:t>Tokens (k)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i="0" u="none" kern="1200" dirty="0">
                              <a:solidFill>
                                <a:schemeClr val="tx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+23.08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i="0" u="none" kern="1200" dirty="0">
                              <a:solidFill>
                                <a:schemeClr val="tx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+7.96 to +38.35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i="0" u="none" kern="1200" dirty="0">
                              <a:solidFill>
                                <a:schemeClr val="tx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0.0039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i="0" u="none" kern="1200" dirty="0">
                              <a:solidFill>
                                <a:schemeClr val="tx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0.0157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i="0" u="none" kern="1200" dirty="0">
                              <a:solidFill>
                                <a:schemeClr val="tx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0.31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005436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b="1" dirty="0"/>
                            <a:t>Aesthetics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+0.14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-2.27 to +2.50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0.9141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115079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b="1" dirty="0" err="1"/>
                            <a:t>TeachQuiz</a:t>
                          </a:r>
                          <a:endParaRPr lang="en-US" sz="2000" b="1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+2.22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-2.67 to +6.89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0.4172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20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0.10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21198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C0AA3196-58CE-F4DC-CD71-78388EC4E3F0}"/>
              </a:ext>
            </a:extLst>
          </p:cNvPr>
          <p:cNvSpPr/>
          <p:nvPr/>
        </p:nvSpPr>
        <p:spPr>
          <a:xfrm>
            <a:off x="2251992" y="4739045"/>
            <a:ext cx="9101801" cy="3921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605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70660-5EC9-92EC-444B-54BB39C61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 2: Injection 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595DA-C714-2D40-7A74-692E0125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6AA4C3-344A-A2B3-9902-8FA4BB7BD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9624" cy="392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630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B2994-4E83-8F21-9EE5-5756D74E6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E8F5D-D954-39A4-0AE5-69A445640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 2: Injection 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BF5AF-F2DB-B24F-2CE6-7162D0017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042B90-E89C-1D17-805E-6DD268332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9624" cy="392353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E1CA06-7A5C-D72F-CA50-3EEB485A27A5}"/>
              </a:ext>
            </a:extLst>
          </p:cNvPr>
          <p:cNvSpPr/>
          <p:nvPr/>
        </p:nvSpPr>
        <p:spPr>
          <a:xfrm>
            <a:off x="834176" y="4255073"/>
            <a:ext cx="2625716" cy="833852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D13541-41DF-BE81-AEF3-42D7A5FBB030}"/>
              </a:ext>
            </a:extLst>
          </p:cNvPr>
          <p:cNvSpPr/>
          <p:nvPr/>
        </p:nvSpPr>
        <p:spPr>
          <a:xfrm>
            <a:off x="3470284" y="3202689"/>
            <a:ext cx="2625716" cy="833852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91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75084-68CB-D10D-C7D6-1C79BA1E5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932A0-9296-25B7-8D9F-2BCD66646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 2: Injection 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23878-4FD8-FB36-4DED-E69F4842E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E76444-A379-6287-6482-900D581F0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9624" cy="392353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D59949A-25E2-DA52-5A6B-58D7152A5BB7}"/>
              </a:ext>
            </a:extLst>
          </p:cNvPr>
          <p:cNvSpPr/>
          <p:nvPr/>
        </p:nvSpPr>
        <p:spPr>
          <a:xfrm>
            <a:off x="834177" y="2150305"/>
            <a:ext cx="5261824" cy="833852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87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103BA-5050-9CC7-6501-38894D8D2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93EFA-AB8A-934D-4DDD-B63F41E6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Injection Scope Matters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FABF9-62E0-B69D-FC24-CCCB3D134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27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B83600B-AA75-8203-6628-A5443AD76F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846544"/>
              </p:ext>
            </p:extLst>
          </p:nvPr>
        </p:nvGraphicFramePr>
        <p:xfrm>
          <a:off x="838199" y="1825625"/>
          <a:ext cx="10515600" cy="390144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6636399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8381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+mj-lt"/>
                        </a:rPr>
                        <a:t>Broad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+mj-lt"/>
                        </a:rPr>
                        <a:t>Reactive Repair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371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/>
                        <a:t>Animation planning begins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40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1" i="1" dirty="0"/>
                        <a:t>“</a:t>
                      </a:r>
                      <a:r>
                        <a:rPr lang="en-AU" sz="2000" b="1" i="1" dirty="0"/>
                        <a:t>Prioritize concrete, high-fidelity </a:t>
                      </a:r>
                      <a:r>
                        <a:rPr lang="en-AU" sz="2000" b="1" i="1" dirty="0" err="1"/>
                        <a:t>mobjects</a:t>
                      </a:r>
                      <a:r>
                        <a:rPr lang="en-AU" sz="2000" b="1" i="1" dirty="0"/>
                        <a:t> representing physical components.”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High-fidelity 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mobjects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 added to script: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More complex objects/details required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Code becomes more complex to accommodate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400" i="1" dirty="0">
                          <a:solidFill>
                            <a:schemeClr val="bg1"/>
                          </a:solidFill>
                          <a:latin typeface="+mj-lt"/>
                        </a:rPr>
                        <a:t>(complexity propagates)</a:t>
                      </a:r>
                      <a:endParaRPr lang="en-US" sz="24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0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445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343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FCB20-048A-7424-6E0C-CC59B379D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325E3-5606-127D-E415-39F7F750B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Injection Scope Matters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A0FC7-70B2-D57F-1685-AB347AA32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28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2CE55E6-8D1A-4C4E-D670-C15561FE8325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1825625"/>
          <a:ext cx="10515600" cy="390144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6636399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8381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+mj-lt"/>
                        </a:rPr>
                        <a:t>Broad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+mj-lt"/>
                        </a:rPr>
                        <a:t>Reactive Repair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371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/>
                        <a:t>Animation planning begins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40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1" i="1" dirty="0"/>
                        <a:t>“</a:t>
                      </a:r>
                      <a:r>
                        <a:rPr lang="en-AU" sz="2000" b="1" i="1" dirty="0"/>
                        <a:t>Prioritize concrete, high-fidelity </a:t>
                      </a:r>
                      <a:r>
                        <a:rPr lang="en-AU" sz="2000" b="1" i="1" dirty="0" err="1"/>
                        <a:t>mobjects</a:t>
                      </a:r>
                      <a:r>
                        <a:rPr lang="en-AU" sz="2000" b="1" i="1" dirty="0"/>
                        <a:t> representing physical components.”</a:t>
                      </a:r>
                      <a:endParaRPr lang="en-US" sz="2000" b="1" i="1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40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400" dirty="0"/>
                        <a:t>High-fidelity </a:t>
                      </a:r>
                      <a:r>
                        <a:rPr lang="en-US" sz="2400" dirty="0" err="1"/>
                        <a:t>mobjects</a:t>
                      </a:r>
                      <a:r>
                        <a:rPr lang="en-US" sz="2400" dirty="0"/>
                        <a:t> added to script: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800" dirty="0"/>
                        <a:t>More complex objects/details required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800" b="0" dirty="0"/>
                        <a:t>Code becomes more complex to accommodate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240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400" i="1" dirty="0">
                          <a:latin typeface="+mj-lt"/>
                        </a:rPr>
                        <a:t>(complexity propagates)</a:t>
                      </a:r>
                      <a:endParaRPr lang="en-US" sz="2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0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445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690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D39BA-D4FB-EFF5-E068-7FBABA77C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2A96-B239-5BF8-A32F-6DD5ED259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Injection Scope Matters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B44E4-7C51-68BE-AA64-CDB53377E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29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7854971-4A98-2740-46EF-A41001DB5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418346"/>
              </p:ext>
            </p:extLst>
          </p:nvPr>
        </p:nvGraphicFramePr>
        <p:xfrm>
          <a:off x="838199" y="1825625"/>
          <a:ext cx="10515600" cy="390144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6636399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8381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+mj-lt"/>
                        </a:rPr>
                        <a:t>Broad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+mj-lt"/>
                        </a:rPr>
                        <a:t>Reactive Repair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371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/>
                        <a:t>Animation planning begins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40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1" i="1" dirty="0"/>
                        <a:t>“</a:t>
                      </a:r>
                      <a:r>
                        <a:rPr lang="en-AU" sz="2000" b="1" i="1" dirty="0"/>
                        <a:t>Prioritize concrete, high-fidelity </a:t>
                      </a:r>
                      <a:r>
                        <a:rPr lang="en-AU" sz="2000" b="1" i="1" dirty="0" err="1"/>
                        <a:t>mobjects</a:t>
                      </a:r>
                      <a:r>
                        <a:rPr lang="en-AU" sz="2000" b="1" i="1" dirty="0"/>
                        <a:t> representing physical components.”</a:t>
                      </a:r>
                      <a:endParaRPr lang="en-US" sz="2000" b="1" i="1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40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400" dirty="0"/>
                        <a:t>High-fidelity </a:t>
                      </a:r>
                      <a:r>
                        <a:rPr lang="en-US" sz="2400" dirty="0" err="1"/>
                        <a:t>mobjects</a:t>
                      </a:r>
                      <a:r>
                        <a:rPr lang="en-US" sz="2400" dirty="0"/>
                        <a:t> added to script: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800" dirty="0"/>
                        <a:t>More complex objects/details required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800" b="0" dirty="0"/>
                        <a:t>Code becomes more complex to accommodate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240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400" i="1" dirty="0">
                          <a:latin typeface="+mj-lt"/>
                        </a:rPr>
                        <a:t>(complexity propagates)</a:t>
                      </a:r>
                      <a:endParaRPr lang="en-US" sz="2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 err="1"/>
                        <a:t>TypeError</a:t>
                      </a:r>
                      <a:r>
                        <a:rPr lang="en-US" sz="2400" dirty="0"/>
                        <a:t> received in </a:t>
                      </a:r>
                      <a:r>
                        <a:rPr lang="en-US" sz="2400" dirty="0" err="1"/>
                        <a:t>Scene.play</a:t>
                      </a:r>
                      <a:r>
                        <a:rPr lang="en-US" sz="2400" dirty="0"/>
                        <a:t>()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40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1" i="1" dirty="0"/>
                        <a:t>“Use .animate or an explicit Animation object when changing a </a:t>
                      </a:r>
                      <a:r>
                        <a:rPr lang="en-US" sz="2000" b="1" i="1" dirty="0" err="1"/>
                        <a:t>mobject</a:t>
                      </a:r>
                      <a:r>
                        <a:rPr lang="en-US" sz="2000" b="1" i="1" dirty="0"/>
                        <a:t> inside </a:t>
                      </a:r>
                      <a:r>
                        <a:rPr lang="en-US" sz="2000" b="1" i="1" dirty="0" err="1"/>
                        <a:t>Scene.play</a:t>
                      </a:r>
                      <a:r>
                        <a:rPr lang="en-US" sz="2000" b="1" i="1" dirty="0"/>
                        <a:t>”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Coder changed: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strike="sngStrike" dirty="0" err="1">
                          <a:solidFill>
                            <a:schemeClr val="bg1"/>
                          </a:solidFill>
                        </a:rPr>
                        <a:t>self.play</a:t>
                      </a:r>
                      <a:r>
                        <a:rPr lang="en-US" sz="1800" strike="sngStrike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sz="1800" strike="sngStrike" dirty="0" err="1">
                          <a:solidFill>
                            <a:schemeClr val="bg1"/>
                          </a:solidFill>
                        </a:rPr>
                        <a:t>self.lecture</a:t>
                      </a:r>
                      <a:r>
                        <a:rPr lang="en-US" sz="1800" strike="sngStrike" dirty="0">
                          <a:solidFill>
                            <a:schemeClr val="bg1"/>
                          </a:solidFill>
                        </a:rPr>
                        <a:t>[0].</a:t>
                      </a:r>
                      <a:r>
                        <a:rPr lang="en-US" sz="1800" strike="sngStrike" dirty="0" err="1">
                          <a:solidFill>
                            <a:schemeClr val="bg1"/>
                          </a:solidFill>
                        </a:rPr>
                        <a:t>set_color</a:t>
                      </a:r>
                      <a:r>
                        <a:rPr lang="en-US" sz="1800" strike="sngStrike" dirty="0">
                          <a:solidFill>
                            <a:schemeClr val="bg1"/>
                          </a:solidFill>
                        </a:rPr>
                        <a:t>(WHITE))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 err="1">
                          <a:solidFill>
                            <a:schemeClr val="bg1"/>
                          </a:solidFill>
                        </a:rPr>
                        <a:t>self.play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</a:rPr>
                        <a:t>self.lecture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[0].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</a:rPr>
                        <a:t>animate.set_color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(WHITE))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 err="1">
                          <a:solidFill>
                            <a:schemeClr val="bg1"/>
                          </a:solidFill>
                          <a:latin typeface="+mj-lt"/>
                        </a:rPr>
                        <a:t>TypeError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  <a:latin typeface="+mj-lt"/>
                        </a:rPr>
                        <a:t> successfully resolved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445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494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2DC41-A745-7B9C-4B3A-BFA55F234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E9DFF-C5C6-E4F7-1440-33365941C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Injection Scope Matters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BC05D-33ED-5580-CC7F-A58005A98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30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4F759B5-8AC0-4C02-92EF-398648F0C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380126"/>
              </p:ext>
            </p:extLst>
          </p:nvPr>
        </p:nvGraphicFramePr>
        <p:xfrm>
          <a:off x="838199" y="1825625"/>
          <a:ext cx="10515600" cy="390144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6636399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8381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+mj-lt"/>
                        </a:rPr>
                        <a:t>Broad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+mj-lt"/>
                        </a:rPr>
                        <a:t>Reactive Repair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371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/>
                        <a:t>Animation planning begins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40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1" i="1" dirty="0"/>
                        <a:t>“</a:t>
                      </a:r>
                      <a:r>
                        <a:rPr lang="en-AU" sz="2000" b="1" i="1" dirty="0"/>
                        <a:t>Prioritize concrete, high-fidelity </a:t>
                      </a:r>
                      <a:r>
                        <a:rPr lang="en-AU" sz="2000" b="1" i="1" dirty="0" err="1"/>
                        <a:t>mobjects</a:t>
                      </a:r>
                      <a:r>
                        <a:rPr lang="en-AU" sz="2000" b="1" i="1" dirty="0"/>
                        <a:t> representing physical components.”</a:t>
                      </a:r>
                      <a:endParaRPr lang="en-US" sz="2000" b="1" i="1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40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400" dirty="0"/>
                        <a:t>High-fidelity </a:t>
                      </a:r>
                      <a:r>
                        <a:rPr lang="en-US" sz="2400" dirty="0" err="1"/>
                        <a:t>mobjects</a:t>
                      </a:r>
                      <a:r>
                        <a:rPr lang="en-US" sz="2400" dirty="0"/>
                        <a:t> added to script: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800" dirty="0"/>
                        <a:t>More complex objects/details required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800" b="0" dirty="0"/>
                        <a:t>Code becomes more complex to accommodate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240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400" i="1" dirty="0">
                          <a:latin typeface="+mj-lt"/>
                        </a:rPr>
                        <a:t>(complexity propagates)</a:t>
                      </a:r>
                      <a:endParaRPr lang="en-US" sz="2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 err="1"/>
                        <a:t>TypeError</a:t>
                      </a:r>
                      <a:r>
                        <a:rPr lang="en-US" sz="2400" dirty="0"/>
                        <a:t> received in </a:t>
                      </a:r>
                      <a:r>
                        <a:rPr lang="en-US" sz="2400" dirty="0" err="1"/>
                        <a:t>Scene.play</a:t>
                      </a:r>
                      <a:r>
                        <a:rPr lang="en-US" sz="2400" dirty="0"/>
                        <a:t>()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40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1" i="1" dirty="0"/>
                        <a:t>“Use .animate or an explicit Animation object when changing a </a:t>
                      </a:r>
                      <a:r>
                        <a:rPr lang="en-US" sz="2000" b="1" i="1" dirty="0" err="1"/>
                        <a:t>mobject</a:t>
                      </a:r>
                      <a:r>
                        <a:rPr lang="en-US" sz="2000" b="1" i="1" dirty="0"/>
                        <a:t> inside </a:t>
                      </a:r>
                      <a:r>
                        <a:rPr lang="en-US" sz="2000" b="1" i="1" dirty="0" err="1"/>
                        <a:t>Scene.play</a:t>
                      </a:r>
                      <a:r>
                        <a:rPr lang="en-US" sz="2000" b="1" i="1" dirty="0"/>
                        <a:t>”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4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/>
                        <a:t>Coder changed: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strike="sngStrike" dirty="0" err="1"/>
                        <a:t>self.play</a:t>
                      </a:r>
                      <a:r>
                        <a:rPr lang="en-US" sz="1800" strike="sngStrike" dirty="0"/>
                        <a:t>(</a:t>
                      </a:r>
                      <a:r>
                        <a:rPr lang="en-US" sz="1800" strike="sngStrike" dirty="0" err="1"/>
                        <a:t>self.lecture</a:t>
                      </a:r>
                      <a:r>
                        <a:rPr lang="en-US" sz="1800" strike="sngStrike" dirty="0"/>
                        <a:t>[0].</a:t>
                      </a:r>
                      <a:r>
                        <a:rPr lang="en-US" sz="1800" strike="sngStrike" dirty="0" err="1"/>
                        <a:t>set_color</a:t>
                      </a:r>
                      <a:r>
                        <a:rPr lang="en-US" sz="1800" strike="sngStrike" dirty="0"/>
                        <a:t>(WHITE))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 err="1"/>
                        <a:t>self.play</a:t>
                      </a:r>
                      <a:r>
                        <a:rPr lang="en-US" sz="1800" dirty="0"/>
                        <a:t>(</a:t>
                      </a:r>
                      <a:r>
                        <a:rPr lang="en-US" sz="1800" dirty="0" err="1"/>
                        <a:t>self.lecture</a:t>
                      </a:r>
                      <a:r>
                        <a:rPr lang="en-US" sz="1800" dirty="0"/>
                        <a:t>[0].</a:t>
                      </a:r>
                      <a:r>
                        <a:rPr lang="en-US" sz="1800" b="1" dirty="0" err="1">
                          <a:latin typeface="+mj-lt"/>
                        </a:rPr>
                        <a:t>animate</a:t>
                      </a:r>
                      <a:r>
                        <a:rPr lang="en-US" sz="1800" dirty="0" err="1"/>
                        <a:t>.set_color</a:t>
                      </a:r>
                      <a:r>
                        <a:rPr lang="en-US" sz="1800" dirty="0"/>
                        <a:t>(WHITE))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4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 err="1">
                          <a:latin typeface="+mj-lt"/>
                        </a:rPr>
                        <a:t>TypeError</a:t>
                      </a:r>
                      <a:r>
                        <a:rPr lang="en-US" sz="2400" dirty="0">
                          <a:latin typeface="+mj-lt"/>
                        </a:rPr>
                        <a:t> successfully resolved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445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1685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CA1A0-D346-9FD4-15F6-1CA74A51C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35BF9-D837-2337-837F-D1F3949EF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 3: Transferability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BF390-DDDE-DC0C-2941-8DE9D5E4D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Cross-batch and within-batch belief transfer evaluated across all three batches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9642E-A17F-01F6-EE46-3B87375EE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31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BA55E57-D065-2537-A066-7518C79EEBA2}"/>
              </a:ext>
            </a:extLst>
          </p:cNvPr>
          <p:cNvSpPr/>
          <p:nvPr/>
        </p:nvSpPr>
        <p:spPr>
          <a:xfrm>
            <a:off x="1533446" y="2938056"/>
            <a:ext cx="2464220" cy="906844"/>
          </a:xfrm>
          <a:prstGeom prst="roundRect">
            <a:avLst/>
          </a:prstGeom>
          <a:solidFill>
            <a:srgbClr val="CCCC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+mj-lt"/>
              </a:rPr>
              <a:t>BATCH 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C6DEEE5-1F76-F048-8758-894D7B04B6CA}"/>
              </a:ext>
            </a:extLst>
          </p:cNvPr>
          <p:cNvSpPr/>
          <p:nvPr/>
        </p:nvSpPr>
        <p:spPr>
          <a:xfrm>
            <a:off x="1533446" y="4193781"/>
            <a:ext cx="2464220" cy="906844"/>
          </a:xfrm>
          <a:prstGeom prst="roundRect">
            <a:avLst/>
          </a:prstGeom>
          <a:solidFill>
            <a:srgbClr val="CCCC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+mj-lt"/>
              </a:rPr>
              <a:t>BATCH B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16ADCC5-62DC-E5D1-DAB0-87D8BD571EF7}"/>
              </a:ext>
            </a:extLst>
          </p:cNvPr>
          <p:cNvSpPr/>
          <p:nvPr/>
        </p:nvSpPr>
        <p:spPr>
          <a:xfrm>
            <a:off x="1533446" y="5449506"/>
            <a:ext cx="2464220" cy="906844"/>
          </a:xfrm>
          <a:prstGeom prst="roundRect">
            <a:avLst/>
          </a:prstGeom>
          <a:solidFill>
            <a:srgbClr val="CCCC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+mj-lt"/>
              </a:rPr>
              <a:t>BATCH C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AD8DC56-38F5-410F-B9D5-2E84D2C93AFE}"/>
              </a:ext>
            </a:extLst>
          </p:cNvPr>
          <p:cNvSpPr/>
          <p:nvPr/>
        </p:nvSpPr>
        <p:spPr>
          <a:xfrm>
            <a:off x="7888903" y="2938056"/>
            <a:ext cx="2464220" cy="906844"/>
          </a:xfrm>
          <a:prstGeom prst="roundRect">
            <a:avLst/>
          </a:prstGeom>
          <a:solidFill>
            <a:srgbClr val="CCCC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+mj-lt"/>
              </a:rPr>
              <a:t>BATCH 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EF14B85-8368-0095-4C5E-B636E0612307}"/>
              </a:ext>
            </a:extLst>
          </p:cNvPr>
          <p:cNvSpPr/>
          <p:nvPr/>
        </p:nvSpPr>
        <p:spPr>
          <a:xfrm>
            <a:off x="7888903" y="4193781"/>
            <a:ext cx="2464220" cy="906844"/>
          </a:xfrm>
          <a:prstGeom prst="roundRect">
            <a:avLst/>
          </a:prstGeom>
          <a:solidFill>
            <a:srgbClr val="CCCC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+mj-lt"/>
              </a:rPr>
              <a:t>BATCH B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2557AB6-DC67-36B2-5A88-AF4AA40D6770}"/>
              </a:ext>
            </a:extLst>
          </p:cNvPr>
          <p:cNvSpPr/>
          <p:nvPr/>
        </p:nvSpPr>
        <p:spPr>
          <a:xfrm>
            <a:off x="7888903" y="5449506"/>
            <a:ext cx="2464220" cy="906844"/>
          </a:xfrm>
          <a:prstGeom prst="roundRect">
            <a:avLst/>
          </a:prstGeom>
          <a:solidFill>
            <a:srgbClr val="CCCC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+mj-lt"/>
              </a:rPr>
              <a:t>BATCH 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C34912-9496-C736-9585-CFD4D0929C52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>
            <a:off x="3997666" y="3391478"/>
            <a:ext cx="3891237" cy="125572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F7DB88A-2019-00D1-2A07-D4818D2D7963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3997666" y="3391478"/>
            <a:ext cx="3891237" cy="125572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46D987-1F72-BB3A-33E5-47C1AB00BF09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3997666" y="4647203"/>
            <a:ext cx="3891237" cy="125572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AA7041-1829-B902-7439-289D63400A62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3997666" y="4647203"/>
            <a:ext cx="3891237" cy="125572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B1C018-CF84-D3D8-23BA-893AED7548A2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3997666" y="3391478"/>
            <a:ext cx="3891237" cy="251145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3759CD5-AF63-5A0C-55CC-F391D64ABAEB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3997666" y="3391478"/>
            <a:ext cx="3891237" cy="251145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708E916-5974-65B3-B025-6EF57BBBF33F}"/>
              </a:ext>
            </a:extLst>
          </p:cNvPr>
          <p:cNvSpPr txBox="1"/>
          <p:nvPr/>
        </p:nvSpPr>
        <p:spPr>
          <a:xfrm>
            <a:off x="2415139" y="6356350"/>
            <a:ext cx="70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Beliefs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DB3161-4B72-04C7-B353-AE6D319E19F9}"/>
              </a:ext>
            </a:extLst>
          </p:cNvPr>
          <p:cNvSpPr txBox="1"/>
          <p:nvPr/>
        </p:nvSpPr>
        <p:spPr>
          <a:xfrm>
            <a:off x="8346121" y="6356350"/>
            <a:ext cx="15497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Generation Topics</a:t>
            </a:r>
          </a:p>
        </p:txBody>
      </p:sp>
    </p:spTree>
    <p:extLst>
      <p:ext uri="{BB962C8B-B14F-4D97-AF65-F5344CB8AC3E}">
        <p14:creationId xmlns:p14="http://schemas.microsoft.com/office/powerpoint/2010/main" val="892707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F817-A1E8-4EF4-9FEC-86DBD9AD5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ECE0C-385D-AD60-042F-944878FB9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 3: Transferability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78850-64AD-613B-0385-FD8F5FE24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Cross-batch and within-batch belief transfer evaluated across all three batches</a:t>
            </a:r>
          </a:p>
          <a:p>
            <a:r>
              <a:rPr lang="en-US" dirty="0"/>
              <a:t>Results given compared to no-belief baseline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CB149-ADE0-437C-384A-F8E0B3FD7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1D47AE-15F4-B6A2-5AA1-A552CA55F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78" y="3854389"/>
            <a:ext cx="10560644" cy="241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076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E5128-9DA4-3029-B643-A30779DD6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100B9-6F93-3A92-8648-682F07F5E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 3: Transferability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C7550-FDF7-B0BF-D165-D831FC83C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Transferred statistically significant token-efficiency benefit</a:t>
            </a:r>
          </a:p>
          <a:p>
            <a:r>
              <a:rPr lang="en-US" dirty="0"/>
              <a:t>Other metrics have unclear improvements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56392-23FD-53DE-8C0D-EE6418F15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33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BCB1DD-4C88-AB8D-8293-6A9CF9309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94075"/>
            <a:ext cx="10519100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057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67305-458A-5BB5-EB5D-B3BE34398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1D1C0-9CA0-C0AC-6FC2-D01312891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Conclusions and 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2E557-97DF-FD2C-1884-AF0241167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34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A0F53E-DF4F-7474-FD12-1F47D1BA89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852408" y="1690688"/>
            <a:ext cx="5243592" cy="22671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9046CF-E512-90D6-6FFF-7FD05CE64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105" y="2083051"/>
            <a:ext cx="5058354" cy="1177443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A3E0827-7D69-C4E0-20B5-ED62E81158F7}"/>
              </a:ext>
            </a:extLst>
          </p:cNvPr>
          <p:cNvSpPr/>
          <p:nvPr/>
        </p:nvSpPr>
        <p:spPr>
          <a:xfrm>
            <a:off x="6096000" y="4760925"/>
            <a:ext cx="5142895" cy="123058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  <a:latin typeface="+mj-lt"/>
              </a:rPr>
              <a:t>BELIEF BASE</a:t>
            </a: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97EB6910-DC71-8E32-734A-31C2C39B9E48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6096000" y="2671772"/>
            <a:ext cx="2571448" cy="629761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B88F941-5A76-24D4-ECE5-75559DB26AD1}"/>
              </a:ext>
            </a:extLst>
          </p:cNvPr>
          <p:cNvCxnSpPr>
            <a:stCxn id="3" idx="2"/>
            <a:endCxn id="9" idx="0"/>
          </p:cNvCxnSpPr>
          <p:nvPr/>
        </p:nvCxnSpPr>
        <p:spPr>
          <a:xfrm>
            <a:off x="8667448" y="3871431"/>
            <a:ext cx="0" cy="88949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5D9B013-7949-8DEC-E3A1-263743C78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301533"/>
            <a:ext cx="5142895" cy="569898"/>
          </a:xfrm>
          <a:prstGeom prst="rect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88758F7-AF02-DC6F-F2EA-C9A2BE7C3E2C}"/>
              </a:ext>
            </a:extLst>
          </p:cNvPr>
          <p:cNvSpPr txBox="1"/>
          <p:nvPr/>
        </p:nvSpPr>
        <p:spPr>
          <a:xfrm>
            <a:off x="6452174" y="2348955"/>
            <a:ext cx="18590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Execution artefacts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6F6FA3-93B0-2A89-120E-4725887F5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90" y="4034844"/>
            <a:ext cx="5243584" cy="562667"/>
          </a:xfrm>
          <a:prstGeom prst="rect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C524F5-B2DE-5E9D-598F-C329FB6686D8}"/>
              </a:ext>
            </a:extLst>
          </p:cNvPr>
          <p:cNvCxnSpPr>
            <a:stCxn id="6" idx="0"/>
          </p:cNvCxnSpPr>
          <p:nvPr/>
        </p:nvCxnSpPr>
        <p:spPr>
          <a:xfrm flipV="1">
            <a:off x="3482282" y="3260494"/>
            <a:ext cx="0" cy="77435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FB0FE08-AF9B-9BF9-9F93-5C864A426394}"/>
              </a:ext>
            </a:extLst>
          </p:cNvPr>
          <p:cNvSpPr txBox="1"/>
          <p:nvPr/>
        </p:nvSpPr>
        <p:spPr>
          <a:xfrm>
            <a:off x="1845104" y="3488514"/>
            <a:ext cx="16291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Selected Beliefs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DFFC5638-A9AB-228C-BBF3-CC2C6F133A9C}"/>
              </a:ext>
            </a:extLst>
          </p:cNvPr>
          <p:cNvCxnSpPr/>
          <p:nvPr/>
        </p:nvCxnSpPr>
        <p:spPr>
          <a:xfrm rot="10800000">
            <a:off x="3482282" y="4597512"/>
            <a:ext cx="2613718" cy="778705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9C13B68-1021-CD84-486E-EF2B17963D46}"/>
              </a:ext>
            </a:extLst>
          </p:cNvPr>
          <p:cNvSpPr txBox="1"/>
          <p:nvPr/>
        </p:nvSpPr>
        <p:spPr>
          <a:xfrm>
            <a:off x="838199" y="6356350"/>
            <a:ext cx="2673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Adapted from Chen et al. (2025).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79399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62EA1-E233-F26F-4908-8405F7DE4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C2564-5911-1695-5EBA-FFE96A5D1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D9DFC-05D6-36DC-792D-8DB140931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111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Key Findings:</a:t>
            </a:r>
            <a:endParaRPr lang="en-US" dirty="0">
              <a:latin typeface="+mj-lt"/>
            </a:endParaRPr>
          </a:p>
          <a:p>
            <a:pPr marL="514350" indent="-514350">
              <a:buAutoNum type="arabicPeriod"/>
            </a:pPr>
            <a:r>
              <a:rPr lang="en-US" dirty="0"/>
              <a:t>Beliefs improved generation efficiency (token usage)</a:t>
            </a:r>
          </a:p>
          <a:p>
            <a:pPr marL="514350" indent="-514350">
              <a:buAutoNum type="arabicPeriod"/>
            </a:pPr>
            <a:r>
              <a:rPr lang="en-US" dirty="0"/>
              <a:t>Injection scope affects whether beliefs help or hinder (Reactive Repair was the most </a:t>
            </a:r>
            <a:r>
              <a:rPr lang="en-US" dirty="0" err="1"/>
              <a:t>favourable</a:t>
            </a:r>
            <a:r>
              <a:rPr lang="en-US" dirty="0"/>
              <a:t>)</a:t>
            </a:r>
          </a:p>
          <a:p>
            <a:pPr marL="514350" indent="-514350">
              <a:buAutoNum type="arabicPeriod"/>
            </a:pPr>
            <a:r>
              <a:rPr lang="en-US" dirty="0"/>
              <a:t>Beliefs transferred to unseen topics (token savings transferred)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+mj-lt"/>
              </a:rPr>
              <a:t>What’s Next:</a:t>
            </a:r>
          </a:p>
          <a:p>
            <a:r>
              <a:rPr lang="en-US" dirty="0"/>
              <a:t>Continuous belief base refinement (building on an existing base)</a:t>
            </a:r>
          </a:p>
          <a:p>
            <a:r>
              <a:rPr lang="en-US" dirty="0"/>
              <a:t>Learning belief selection coefficients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583AC-2B3C-8865-D12C-A5B78513A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9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0028F-70BD-59A3-13B0-A27F8AC98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D18AB-CE28-3CC5-04BF-767755462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BE12B-080E-AF8E-F712-9792341EA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-360000">
              <a:buNone/>
            </a:pPr>
            <a:r>
              <a:rPr lang="en-AU" sz="2000" dirty="0"/>
              <a:t>Chen, Y., Lin, K. Q., &amp; Shou, M. Z. (2025). Code2Video: A code-centric paradigm for educational video generation. </a:t>
            </a:r>
            <a:r>
              <a:rPr lang="en-AU" sz="2000" i="1" dirty="0" err="1"/>
              <a:t>arXiv</a:t>
            </a:r>
            <a:r>
              <a:rPr lang="en-AU" sz="2000" dirty="0"/>
              <a:t>. https://</a:t>
            </a:r>
            <a:r>
              <a:rPr lang="en-AU" sz="2000" dirty="0" err="1"/>
              <a:t>arxiv.org</a:t>
            </a:r>
            <a:r>
              <a:rPr lang="en-AU" sz="2000" dirty="0"/>
              <a:t>/abs/2510.01174</a:t>
            </a:r>
          </a:p>
          <a:p>
            <a:pPr marL="0" indent="-360000">
              <a:buNone/>
            </a:pPr>
            <a:r>
              <a:rPr lang="en-AU" sz="2000" dirty="0"/>
              <a:t>Ho, J., Salimans, T., Gritsenko, A., Chan, W., Norouzi, M., &amp; Fleet, D. (2022). Video diffusion models. </a:t>
            </a:r>
            <a:r>
              <a:rPr lang="en-AU" sz="2000" i="1" dirty="0"/>
              <a:t>Advances in Neural Information Processing Systems</a:t>
            </a:r>
            <a:r>
              <a:rPr lang="en-AU" sz="2000" dirty="0"/>
              <a:t>, </a:t>
            </a:r>
            <a:r>
              <a:rPr lang="en-AU" sz="2000" i="1" dirty="0"/>
              <a:t>35</a:t>
            </a:r>
            <a:r>
              <a:rPr lang="en-AU" sz="2000" dirty="0"/>
              <a:t>. https://</a:t>
            </a:r>
            <a:r>
              <a:rPr lang="en-AU" sz="2000" dirty="0" err="1"/>
              <a:t>proceedings.neurips.cc</a:t>
            </a:r>
            <a:r>
              <a:rPr lang="en-AU" sz="2000" dirty="0"/>
              <a:t>/</a:t>
            </a:r>
            <a:r>
              <a:rPr lang="en-AU" sz="2000" dirty="0" err="1"/>
              <a:t>paper_files</a:t>
            </a:r>
            <a:r>
              <a:rPr lang="en-AU" sz="2000" dirty="0"/>
              <a:t>/paper/2022/hash/39235c56aef13fb05a6adc95eb98d66-Abstract-Conference.html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4C520-5756-0FE3-8939-97F21D67C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566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653B2-C9EE-D779-F46A-040291A61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D3322-2D08-5A19-F24B-2EEF312E3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Appendix A: Evidence Gathering Scores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EFFC3-B85B-F382-F7F5-54B1BE33E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37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7721A90-A0A4-F16A-508C-5D1B49B7EE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0915185"/>
                  </p:ext>
                </p:extLst>
              </p:nvPr>
            </p:nvGraphicFramePr>
            <p:xfrm>
              <a:off x="838199" y="1690688"/>
              <a:ext cx="10515600" cy="4665663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5475515">
                      <a:extLst>
                        <a:ext uri="{9D8B030D-6E8A-4147-A177-3AD203B41FA5}">
                          <a16:colId xmlns:a16="http://schemas.microsoft.com/office/drawing/2014/main" val="1065019603"/>
                        </a:ext>
                      </a:extLst>
                    </a:gridCol>
                    <a:gridCol w="3349415">
                      <a:extLst>
                        <a:ext uri="{9D8B030D-6E8A-4147-A177-3AD203B41FA5}">
                          <a16:colId xmlns:a16="http://schemas.microsoft.com/office/drawing/2014/main" val="2911529683"/>
                        </a:ext>
                      </a:extLst>
                    </a:gridCol>
                    <a:gridCol w="1690670">
                      <a:extLst>
                        <a:ext uri="{9D8B030D-6E8A-4147-A177-3AD203B41FA5}">
                          <a16:colId xmlns:a16="http://schemas.microsoft.com/office/drawing/2014/main" val="2255606866"/>
                        </a:ext>
                      </a:extLst>
                    </a:gridCol>
                  </a:tblGrid>
                  <a:tr h="23321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b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j-lt"/>
                            </a:rPr>
                            <a:t>Property</a:t>
                          </a:r>
                          <a:endParaRPr lang="en-AU" sz="1400" b="1" kern="100" dirty="0">
                            <a:solidFill>
                              <a:sysClr val="windowText" lastClr="000000"/>
                            </a:solidFill>
                            <a:effectLst/>
                            <a:latin typeface="+mj-lt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b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j-lt"/>
                            </a:rPr>
                            <a:t>Categories</a:t>
                          </a:r>
                          <a:endParaRPr lang="en-AU" sz="1400" b="1" kern="100" dirty="0">
                            <a:solidFill>
                              <a:sysClr val="windowText" lastClr="000000"/>
                            </a:solidFill>
                            <a:effectLst/>
                            <a:latin typeface="+mj-lt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b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j-lt"/>
                            </a:rPr>
                            <a:t>Value</a:t>
                          </a:r>
                          <a:endParaRPr lang="en-AU" sz="1400" b="1" kern="100" dirty="0">
                            <a:solidFill>
                              <a:sysClr val="windowText" lastClr="000000"/>
                            </a:solidFill>
                            <a:effectLst/>
                            <a:latin typeface="+mj-lt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284555"/>
                      </a:ext>
                    </a:extLst>
                  </a:tr>
                  <a:tr h="233287">
                    <a:tc rowSpan="4"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b="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j-lt"/>
                            </a:rPr>
                            <a:t>Strategy Application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400" b="0" i="1" kern="100"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latin typeface="+mj-lt"/>
                                    </a:rPr>
                                  </m:ctrlPr>
                                </m:sSubPr>
                                <m:e>
                                  <m:r>
                                    <a:rPr lang="en-AU" sz="1400" b="0" i="1" kern="100"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latin typeface="+mj-lt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AU" sz="1400" b="0" i="1" kern="100"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latin typeface="+mj-lt"/>
                                    </a:rPr>
                                    <m:t>𝑆𝐴</m:t>
                                  </m:r>
                                </m:sub>
                              </m:sSub>
                            </m:oMath>
                          </a14:m>
                          <a:r>
                            <a:rPr lang="en-AU" sz="1400" b="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j-lt"/>
                            </a:rPr>
                            <a:t>)</a:t>
                          </a:r>
                        </a:p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b="0" i="1" kern="1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Degree to which the belief was applied in the given topic</a:t>
                          </a:r>
                          <a:endParaRPr lang="en-AU" sz="1400" b="0" i="1" kern="100" dirty="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Fully applied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0.95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1106805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Partial applied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>
                              <a:effectLst/>
                            </a:rPr>
                            <a:t>0.65</a:t>
                          </a:r>
                          <a:endParaRPr lang="en-AU" sz="1400" kern="1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03441169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Unclear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>
                              <a:effectLst/>
                            </a:rPr>
                            <a:t>0.35</a:t>
                          </a:r>
                          <a:endParaRPr lang="en-AU" sz="1400" kern="1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15086597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Not applied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>
                              <a:effectLst/>
                            </a:rPr>
                            <a:t>0.05</a:t>
                          </a:r>
                          <a:endParaRPr lang="en-AU" sz="1400" kern="1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5598280"/>
                      </a:ext>
                    </a:extLst>
                  </a:tr>
                  <a:tr h="233287">
                    <a:tc rowSpan="5"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b="0" i="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j-lt"/>
                            </a:rPr>
                            <a:t>Attribution Strength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400" b="0" i="1" kern="100" smtClean="0"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latin typeface="+mj-lt"/>
                                    </a:rPr>
                                  </m:ctrlPr>
                                </m:sSubPr>
                                <m:e>
                                  <m:r>
                                    <a:rPr lang="en-AU" sz="1400" b="0" i="1" kern="100" smtClean="0"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latin typeface="+mj-lt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AU" sz="1400" b="0" i="1" kern="100" smtClean="0"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latin typeface="+mj-lt"/>
                                    </a:rPr>
                                    <m:t>𝐴𝑆</m:t>
                                  </m:r>
                                </m:sub>
                              </m:sSub>
                            </m:oMath>
                          </a14:m>
                          <a:r>
                            <a:rPr lang="en-AU" sz="1400" b="0" i="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j-lt"/>
                            </a:rPr>
                            <a:t>)</a:t>
                          </a:r>
                        </a:p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b="0" i="1" kern="1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Degree to which the observed outcome could be attributed to the given belief</a:t>
                          </a:r>
                          <a:endParaRPr lang="en-AU" sz="1400" b="0" i="1" kern="100" dirty="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Strong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0.90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4806318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>
                              <a:effectLst/>
                            </a:rPr>
                            <a:t>Moderate</a:t>
                          </a:r>
                          <a:endParaRPr lang="en-AU" sz="1400" kern="1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0.65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5574967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Weak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>
                              <a:effectLst/>
                            </a:rPr>
                            <a:t>0.30</a:t>
                          </a:r>
                          <a:endParaRPr lang="en-AU" sz="1400" kern="1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37029538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Unclear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>
                              <a:effectLst/>
                            </a:rPr>
                            <a:t>0.20</a:t>
                          </a:r>
                          <a:endParaRPr lang="en-AU" sz="1400" kern="1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19497089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Not at all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0.05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8535067"/>
                      </a:ext>
                    </a:extLst>
                  </a:tr>
                  <a:tr h="233287">
                    <a:tc rowSpan="5"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b="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j-lt"/>
                            </a:rPr>
                            <a:t>Evidence Reliability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400" b="0" i="1" kern="100"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latin typeface="+mj-lt"/>
                                    </a:rPr>
                                  </m:ctrlPr>
                                </m:sSubPr>
                                <m:e>
                                  <m:r>
                                    <a:rPr lang="en-AU" sz="1400" b="0" i="1" kern="100"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latin typeface="+mj-lt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AU" sz="1400" b="0" i="1" kern="100"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latin typeface="+mj-lt"/>
                                    </a:rPr>
                                    <m:t>𝐸𝑅</m:t>
                                  </m:r>
                                </m:sub>
                              </m:sSub>
                            </m:oMath>
                          </a14:m>
                          <a:r>
                            <a:rPr lang="en-AU" sz="1400" b="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j-lt"/>
                            </a:rPr>
                            <a:t>)</a:t>
                          </a:r>
                        </a:p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b="0" i="1" kern="1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How the evidence could be obtained from the generated artefacts</a:t>
                          </a:r>
                          <a:endParaRPr lang="en-AU" sz="1400" b="0" i="1" kern="100" dirty="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Recorded directly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1.00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22924866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Corroborated (multiple artefacts)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0.85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4741418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>
                              <a:effectLst/>
                            </a:rPr>
                            <a:t>Supported indirectly</a:t>
                          </a:r>
                          <a:endParaRPr lang="en-AU" sz="1400" kern="1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0.65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48783165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>
                              <a:effectLst/>
                            </a:rPr>
                            <a:t>Inferred</a:t>
                          </a:r>
                          <a:endParaRPr lang="en-AU" sz="1400" kern="1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0.40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7930830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>
                              <a:effectLst/>
                            </a:rPr>
                            <a:t>Unverifiable</a:t>
                          </a:r>
                          <a:endParaRPr lang="en-AU" sz="1400" kern="1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0.00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51680812"/>
                      </a:ext>
                    </a:extLst>
                  </a:tr>
                  <a:tr h="233287">
                    <a:tc rowSpan="5"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b="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j-lt"/>
                            </a:rPr>
                            <a:t>Outcome Improvement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400" b="0" i="1" kern="100"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latin typeface="+mj-lt"/>
                                    </a:rPr>
                                  </m:ctrlPr>
                                </m:sSubPr>
                                <m:e>
                                  <m:r>
                                    <a:rPr lang="en-AU" sz="1400" b="0" i="1" kern="100"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latin typeface="+mj-lt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AU" sz="1400" b="0" i="1" kern="100"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latin typeface="+mj-lt"/>
                                    </a:rPr>
                                    <m:t>𝑂𝐼</m:t>
                                  </m:r>
                                </m:sub>
                              </m:sSub>
                            </m:oMath>
                          </a14:m>
                          <a:r>
                            <a:rPr lang="en-AU" sz="1400" b="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j-lt"/>
                            </a:rPr>
                            <a:t>)</a:t>
                          </a:r>
                        </a:p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b="0" i="1" kern="1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How the outcome of the target problem was observed to change</a:t>
                          </a:r>
                          <a:endParaRPr lang="en-AU" sz="1400" b="0" i="1" kern="100" dirty="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>
                              <a:effectLst/>
                            </a:rPr>
                            <a:t>Resolved</a:t>
                          </a:r>
                          <a:endParaRPr lang="en-AU" sz="1400" kern="1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1.00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8176250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Improved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0.75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0604707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>
                              <a:effectLst/>
                            </a:rPr>
                            <a:t>Unchanged</a:t>
                          </a:r>
                          <a:endParaRPr lang="en-AU" sz="1400" kern="1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0.00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7575494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Worsened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0.00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15566545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Unclear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0.00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3060224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7721A90-A0A4-F16A-508C-5D1B49B7EE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0915185"/>
                  </p:ext>
                </p:extLst>
              </p:nvPr>
            </p:nvGraphicFramePr>
            <p:xfrm>
              <a:off x="838199" y="1690688"/>
              <a:ext cx="10515600" cy="4665663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5475515">
                      <a:extLst>
                        <a:ext uri="{9D8B030D-6E8A-4147-A177-3AD203B41FA5}">
                          <a16:colId xmlns:a16="http://schemas.microsoft.com/office/drawing/2014/main" val="1065019603"/>
                        </a:ext>
                      </a:extLst>
                    </a:gridCol>
                    <a:gridCol w="3349415">
                      <a:extLst>
                        <a:ext uri="{9D8B030D-6E8A-4147-A177-3AD203B41FA5}">
                          <a16:colId xmlns:a16="http://schemas.microsoft.com/office/drawing/2014/main" val="2911529683"/>
                        </a:ext>
                      </a:extLst>
                    </a:gridCol>
                    <a:gridCol w="1690670">
                      <a:extLst>
                        <a:ext uri="{9D8B030D-6E8A-4147-A177-3AD203B41FA5}">
                          <a16:colId xmlns:a16="http://schemas.microsoft.com/office/drawing/2014/main" val="2255606866"/>
                        </a:ext>
                      </a:extLst>
                    </a:gridCol>
                  </a:tblGrid>
                  <a:tr h="23321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b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j-lt"/>
                            </a:rPr>
                            <a:t>Property</a:t>
                          </a:r>
                          <a:endParaRPr lang="en-AU" sz="1400" b="1" kern="100" dirty="0">
                            <a:solidFill>
                              <a:sysClr val="windowText" lastClr="000000"/>
                            </a:solidFill>
                            <a:effectLst/>
                            <a:latin typeface="+mj-lt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b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j-lt"/>
                            </a:rPr>
                            <a:t>Categories</a:t>
                          </a:r>
                          <a:endParaRPr lang="en-AU" sz="1400" b="1" kern="100" dirty="0">
                            <a:solidFill>
                              <a:sysClr val="windowText" lastClr="000000"/>
                            </a:solidFill>
                            <a:effectLst/>
                            <a:latin typeface="+mj-lt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b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j-lt"/>
                            </a:rPr>
                            <a:t>Value</a:t>
                          </a:r>
                          <a:endParaRPr lang="en-AU" sz="1400" b="1" kern="100" dirty="0">
                            <a:solidFill>
                              <a:sysClr val="windowText" lastClr="000000"/>
                            </a:solidFill>
                            <a:effectLst/>
                            <a:latin typeface="+mj-lt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284555"/>
                      </a:ext>
                    </a:extLst>
                  </a:tr>
                  <a:tr h="233287">
                    <a:tc row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1081" r="-92361" b="-38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Fully applied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0.95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1106805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Partial applied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>
                              <a:effectLst/>
                            </a:rPr>
                            <a:t>0.65</a:t>
                          </a:r>
                          <a:endParaRPr lang="en-AU" sz="1400" kern="1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03441169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Unclear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>
                              <a:effectLst/>
                            </a:rPr>
                            <a:t>0.35</a:t>
                          </a:r>
                          <a:endParaRPr lang="en-AU" sz="1400" kern="1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15086597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Not applied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>
                              <a:effectLst/>
                            </a:rPr>
                            <a:t>0.05</a:t>
                          </a:r>
                          <a:endParaRPr lang="en-AU" sz="1400" kern="1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5598280"/>
                      </a:ext>
                    </a:extLst>
                  </a:tr>
                  <a:tr h="233287">
                    <a:tc rowSpan="5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5435" r="-92361" b="-207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Strong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0.90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4806318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>
                              <a:effectLst/>
                            </a:rPr>
                            <a:t>Moderate</a:t>
                          </a:r>
                          <a:endParaRPr lang="en-AU" sz="1400" kern="1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0.65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5574967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Weak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>
                              <a:effectLst/>
                            </a:rPr>
                            <a:t>0.30</a:t>
                          </a:r>
                          <a:endParaRPr lang="en-AU" sz="1400" kern="1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37029538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Unclear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>
                              <a:effectLst/>
                            </a:rPr>
                            <a:t>0.20</a:t>
                          </a:r>
                          <a:endParaRPr lang="en-AU" sz="1400" kern="1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19497089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Not at all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0.05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8535067"/>
                      </a:ext>
                    </a:extLst>
                  </a:tr>
                  <a:tr h="233287">
                    <a:tc rowSpan="5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5435" r="-92361" b="-107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Recorded directly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1.00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22924866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Corroborated (multiple artefacts)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0.85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4741418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>
                              <a:effectLst/>
                            </a:rPr>
                            <a:t>Supported indirectly</a:t>
                          </a:r>
                          <a:endParaRPr lang="en-AU" sz="1400" kern="1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0.65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48783165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>
                              <a:effectLst/>
                            </a:rPr>
                            <a:t>Inferred</a:t>
                          </a:r>
                          <a:endParaRPr lang="en-AU" sz="1400" kern="1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0.40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7930830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>
                              <a:effectLst/>
                            </a:rPr>
                            <a:t>Unverifiable</a:t>
                          </a:r>
                          <a:endParaRPr lang="en-AU" sz="1400" kern="1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0.00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51680812"/>
                      </a:ext>
                    </a:extLst>
                  </a:tr>
                  <a:tr h="233287">
                    <a:tc rowSpan="5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t="-305435" r="-92361" b="-7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>
                              <a:effectLst/>
                            </a:rPr>
                            <a:t>Resolved</a:t>
                          </a:r>
                          <a:endParaRPr lang="en-AU" sz="1400" kern="1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1.00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8176250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Improved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0.75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0604707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>
                              <a:effectLst/>
                            </a:rPr>
                            <a:t>Unchanged</a:t>
                          </a:r>
                          <a:endParaRPr lang="en-AU" sz="1400" kern="1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0.00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7575494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Worsened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0.00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15566545"/>
                      </a:ext>
                    </a:extLst>
                  </a:tr>
                  <a:tr h="2332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Unclear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400" kern="100" dirty="0">
                              <a:effectLst/>
                            </a:rPr>
                            <a:t>0.00</a:t>
                          </a:r>
                          <a:endParaRPr lang="en-AU" sz="14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306022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74832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6ABAA-976E-71DD-29AE-31EDE49DC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5546-852F-96CF-BBA8-C8F4A0D5B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Appendix B: Belief Effectiveness Update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1A2FB-5A10-10A8-3D07-52914365C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38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E99A17-C6B7-5A5C-5965-0E547C8E48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For a valid set of support/contradicting observations (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=1,2…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2400" i="1"/>
                          </m:ctrlPr>
                        </m:sSubPr>
                        <m:e>
                          <m:r>
                            <a:rPr lang="en-AU" sz="2400" i="1"/>
                            <m:t>𝑤</m:t>
                          </m:r>
                        </m:e>
                        <m:sub>
                          <m:r>
                            <a:rPr lang="en-AU" sz="2400" i="1"/>
                            <m:t>𝑟𝑎𝑤</m:t>
                          </m:r>
                          <m:r>
                            <a:rPr lang="en-AU" sz="2400" i="1"/>
                            <m:t>,</m:t>
                          </m:r>
                          <m:r>
                            <a:rPr lang="en-AU" sz="2400" i="1"/>
                            <m:t>𝑖</m:t>
                          </m:r>
                        </m:sub>
                      </m:sSub>
                      <m:r>
                        <a:rPr lang="en-AU" sz="2400" i="1"/>
                        <m:t>=</m:t>
                      </m:r>
                      <m:sSub>
                        <m:sSubPr>
                          <m:ctrlPr>
                            <a:rPr lang="en-AU" sz="2400" i="1"/>
                          </m:ctrlPr>
                        </m:sSubPr>
                        <m:e>
                          <m:r>
                            <a:rPr lang="en-AU" sz="2400" i="1"/>
                            <m:t>𝑝</m:t>
                          </m:r>
                        </m:e>
                        <m:sub>
                          <m:r>
                            <a:rPr lang="en-AU" sz="2400" i="1"/>
                            <m:t>𝑆𝐴</m:t>
                          </m:r>
                          <m:r>
                            <a:rPr lang="en-AU" sz="2400" i="1"/>
                            <m:t>,</m:t>
                          </m:r>
                          <m:r>
                            <a:rPr lang="en-AU" sz="2400" i="1"/>
                            <m:t>𝑖</m:t>
                          </m:r>
                        </m:sub>
                      </m:sSub>
                      <m:r>
                        <a:rPr lang="en-AU" sz="2400" i="1"/>
                        <m:t>×</m:t>
                      </m:r>
                      <m:sSub>
                        <m:sSubPr>
                          <m:ctrlPr>
                            <a:rPr lang="en-AU" sz="2400" i="1"/>
                          </m:ctrlPr>
                        </m:sSubPr>
                        <m:e>
                          <m:r>
                            <a:rPr lang="en-AU" sz="2400" i="1"/>
                            <m:t>𝑝</m:t>
                          </m:r>
                        </m:e>
                        <m:sub>
                          <m:r>
                            <a:rPr lang="en-AU" sz="2400" i="1"/>
                            <m:t>𝐸𝑅</m:t>
                          </m:r>
                          <m:r>
                            <a:rPr lang="en-AU" sz="2400" i="1"/>
                            <m:t>,</m:t>
                          </m:r>
                          <m:r>
                            <a:rPr lang="en-AU" sz="2400" i="1"/>
                            <m:t>𝑖</m:t>
                          </m:r>
                        </m:sub>
                      </m:sSub>
                      <m:r>
                        <a:rPr lang="en-AU" sz="2400" i="1"/>
                        <m:t>×</m:t>
                      </m:r>
                      <m:sSub>
                        <m:sSubPr>
                          <m:ctrlPr>
                            <a:rPr lang="en-AU" sz="2400" i="1"/>
                          </m:ctrlPr>
                        </m:sSubPr>
                        <m:e>
                          <m:r>
                            <a:rPr lang="en-AU" sz="2400" i="1"/>
                            <m:t>𝑝</m:t>
                          </m:r>
                        </m:e>
                        <m:sub>
                          <m:r>
                            <a:rPr lang="en-AU" sz="2400" i="1"/>
                            <m:t>𝐴𝑆</m:t>
                          </m:r>
                          <m:r>
                            <a:rPr lang="en-AU" sz="2400" i="1"/>
                            <m:t>,</m:t>
                          </m:r>
                          <m:r>
                            <a:rPr lang="en-AU" sz="2400" i="1"/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AU" sz="2400" i="1"/>
                          </m:ctrlPr>
                        </m:eqArrPr>
                        <m:e>
                          <m:sSub>
                            <m:sSubPr>
                              <m:ctrlPr>
                                <a:rPr lang="en-AU" sz="2400" i="1"/>
                              </m:ctrlPr>
                            </m:sSubPr>
                            <m:e>
                              <m:r>
                                <a:rPr lang="en-AU" sz="2400" i="1"/>
                                <m:t>𝑤</m:t>
                              </m:r>
                            </m:e>
                            <m:sub>
                              <m:r>
                                <a:rPr lang="en-AU" sz="2400" i="1"/>
                                <m:t>𝑖</m:t>
                              </m:r>
                            </m:sub>
                          </m:sSub>
                          <m:r>
                            <a:rPr lang="en-AU" sz="2400" i="1"/>
                            <m:t>=</m:t>
                          </m:r>
                          <m:sSub>
                            <m:sSubPr>
                              <m:ctrlPr>
                                <a:rPr lang="en-AU" sz="2400" i="1"/>
                              </m:ctrlPr>
                            </m:sSubPr>
                            <m:e>
                              <m:r>
                                <a:rPr lang="en-AU" sz="2400" i="1"/>
                                <m:t>𝑤</m:t>
                              </m:r>
                            </m:e>
                            <m:sub>
                              <m:r>
                                <a:rPr lang="en-AU" sz="2400" i="1"/>
                                <m:t>𝑟𝑎𝑤</m:t>
                              </m:r>
                              <m:r>
                                <a:rPr lang="en-AU" sz="2400" i="1"/>
                                <m:t>,</m:t>
                              </m:r>
                              <m:r>
                                <a:rPr lang="en-AU" sz="2400" i="1"/>
                                <m:t>𝑖</m:t>
                              </m:r>
                            </m:sub>
                          </m:sSub>
                          <m:r>
                            <a:rPr lang="en-AU" sz="2400" i="1"/>
                            <m:t>×</m:t>
                          </m:r>
                          <m:func>
                            <m:funcPr>
                              <m:ctrlPr>
                                <a:rPr lang="en-AU" sz="2400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2400"/>
                                <m:t>min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AU" sz="2400" i="1"/>
                                  </m:ctrlPr>
                                </m:dPr>
                                <m:e>
                                  <m:r>
                                    <a:rPr lang="en-AU" sz="2400" i="1"/>
                                    <m:t>1,</m:t>
                                  </m:r>
                                  <m:f>
                                    <m:fPr>
                                      <m:ctrlPr>
                                        <a:rPr lang="en-AU" sz="2400" i="1"/>
                                      </m:ctrlPr>
                                    </m:fPr>
                                    <m:num>
                                      <m:r>
                                        <a:rPr lang="en-AU" sz="2400" i="1"/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AU" sz="2400" i="1"/>
                                        <m:t>∑</m:t>
                                      </m:r>
                                      <m:sSub>
                                        <m:sSubPr>
                                          <m:ctrlPr>
                                            <a:rPr lang="en-AU" sz="2400" i="1"/>
                                          </m:ctrlPr>
                                        </m:sSubPr>
                                        <m:e>
                                          <m:r>
                                            <a:rPr lang="en-AU" sz="2400" i="1"/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AU" sz="2400" i="1"/>
                                            <m:t>𝑟𝑎𝑤</m:t>
                                          </m:r>
                                          <m:r>
                                            <a:rPr lang="en-AU" sz="2400" i="1"/>
                                            <m:t>,</m:t>
                                          </m:r>
                                          <m:r>
                                            <a:rPr lang="en-AU" sz="2400" i="1"/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eqArr>
                    </m:oMath>
                  </m:oMathPara>
                </a14:m>
                <a:endParaRPr lang="en-AU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AU" sz="2400" i="1"/>
                          </m:ctrlPr>
                        </m:sSubSupPr>
                        <m:e>
                          <m:r>
                            <a:rPr lang="en-AU" sz="2400" i="1"/>
                            <m:t>𝛼</m:t>
                          </m:r>
                        </m:e>
                        <m:sub>
                          <m:r>
                            <a:rPr lang="en-AU" sz="2400" i="1"/>
                            <m:t>𝑏</m:t>
                          </m:r>
                        </m:sub>
                        <m:sup>
                          <m:r>
                            <a:rPr lang="en-AU" sz="2400" i="1"/>
                            <m:t>′</m:t>
                          </m:r>
                        </m:sup>
                      </m:sSubSup>
                      <m:r>
                        <a:rPr lang="en-AU" sz="2400" i="1"/>
                        <m:t>=</m:t>
                      </m:r>
                      <m:sSub>
                        <m:sSubPr>
                          <m:ctrlPr>
                            <a:rPr lang="en-AU" sz="2400" i="1"/>
                          </m:ctrlPr>
                        </m:sSubPr>
                        <m:e>
                          <m:r>
                            <a:rPr lang="en-AU" sz="2400" i="1"/>
                            <m:t>𝛼</m:t>
                          </m:r>
                        </m:e>
                        <m:sub>
                          <m:r>
                            <a:rPr lang="en-AU" sz="2400" i="1"/>
                            <m:t>𝑏</m:t>
                          </m:r>
                        </m:sub>
                      </m:sSub>
                      <m:r>
                        <a:rPr lang="en-AU" sz="2400" i="1"/>
                        <m:t>+∑</m:t>
                      </m:r>
                      <m:sSub>
                        <m:sSubPr>
                          <m:ctrlPr>
                            <a:rPr lang="en-AU" sz="2400" i="1"/>
                          </m:ctrlPr>
                        </m:sSubPr>
                        <m:e>
                          <m:r>
                            <a:rPr lang="en-AU" sz="2400" i="1"/>
                            <m:t>𝑤</m:t>
                          </m:r>
                        </m:e>
                        <m:sub>
                          <m:r>
                            <a:rPr lang="en-AU" sz="2400" i="1"/>
                            <m:t>𝑖</m:t>
                          </m:r>
                        </m:sub>
                      </m:sSub>
                      <m:r>
                        <a:rPr lang="en-AU" sz="2400" i="1"/>
                        <m:t>×</m:t>
                      </m:r>
                      <m:sSub>
                        <m:sSubPr>
                          <m:ctrlPr>
                            <a:rPr lang="en-AU" sz="2400" i="1"/>
                          </m:ctrlPr>
                        </m:sSubPr>
                        <m:e>
                          <m:r>
                            <a:rPr lang="en-AU" sz="2400" i="1"/>
                            <m:t>𝑝</m:t>
                          </m:r>
                        </m:e>
                        <m:sub>
                          <m:r>
                            <a:rPr lang="en-AU" sz="2400" i="1"/>
                            <m:t>𝑂𝐼</m:t>
                          </m:r>
                          <m:r>
                            <a:rPr lang="en-AU" sz="2400" i="1"/>
                            <m:t>,</m:t>
                          </m:r>
                          <m:r>
                            <a:rPr lang="en-AU" sz="2400" i="1"/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AU" sz="2400" i="1"/>
                          </m:ctrlPr>
                        </m:sSubSupPr>
                        <m:e>
                          <m:r>
                            <a:rPr lang="en-AU" sz="2400" i="1"/>
                            <m:t>𝛽</m:t>
                          </m:r>
                        </m:e>
                        <m:sub>
                          <m:r>
                            <a:rPr lang="en-AU" sz="2400" i="1"/>
                            <m:t>𝑏</m:t>
                          </m:r>
                        </m:sub>
                        <m:sup>
                          <m:r>
                            <a:rPr lang="en-AU" sz="2400" i="1"/>
                            <m:t>′</m:t>
                          </m:r>
                        </m:sup>
                      </m:sSubSup>
                      <m:r>
                        <a:rPr lang="en-AU" sz="2400" i="1"/>
                        <m:t>=</m:t>
                      </m:r>
                      <m:sSub>
                        <m:sSubPr>
                          <m:ctrlPr>
                            <a:rPr lang="en-AU" sz="2400" i="1"/>
                          </m:ctrlPr>
                        </m:sSubPr>
                        <m:e>
                          <m:r>
                            <a:rPr lang="en-AU" sz="2400" i="1"/>
                            <m:t>𝛽</m:t>
                          </m:r>
                        </m:e>
                        <m:sub>
                          <m:r>
                            <a:rPr lang="en-AU" sz="2400" i="1"/>
                            <m:t>𝑏</m:t>
                          </m:r>
                        </m:sub>
                      </m:sSub>
                      <m:r>
                        <a:rPr lang="en-AU" sz="2400" i="1"/>
                        <m:t>+∑</m:t>
                      </m:r>
                      <m:sSub>
                        <m:sSubPr>
                          <m:ctrlPr>
                            <a:rPr lang="en-AU" sz="2400" i="1"/>
                          </m:ctrlPr>
                        </m:sSubPr>
                        <m:e>
                          <m:r>
                            <a:rPr lang="en-AU" sz="2400" i="1"/>
                            <m:t>𝑤</m:t>
                          </m:r>
                        </m:e>
                        <m:sub>
                          <m:r>
                            <a:rPr lang="en-AU" sz="2400" i="1"/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AU" sz="2400" i="1"/>
                          </m:ctrlPr>
                        </m:dPr>
                        <m:e>
                          <m:r>
                            <a:rPr lang="en-AU" sz="2400" i="1"/>
                            <m:t>1−</m:t>
                          </m:r>
                          <m:sSub>
                            <m:sSubPr>
                              <m:ctrlPr>
                                <a:rPr lang="en-AU" sz="2400" i="1"/>
                              </m:ctrlPr>
                            </m:sSubPr>
                            <m:e>
                              <m:r>
                                <a:rPr lang="en-AU" sz="2400" i="1"/>
                                <m:t>𝑝</m:t>
                              </m:r>
                            </m:e>
                            <m:sub>
                              <m:r>
                                <a:rPr lang="en-AU" sz="2400" i="1"/>
                                <m:t>𝑂𝐼</m:t>
                              </m:r>
                              <m:r>
                                <a:rPr lang="en-AU" sz="2400" i="1"/>
                                <m:t>,</m:t>
                              </m:r>
                              <m:r>
                                <a:rPr lang="en-AU" sz="2400" i="1"/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AU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AU" sz="2400" i="1"/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2400" i="1"/>
                          </m:ctrlPr>
                        </m:dPr>
                        <m:e>
                          <m:sSub>
                            <m:sSubPr>
                              <m:ctrlPr>
                                <a:rPr lang="en-AU" sz="2400" i="1"/>
                              </m:ctrlPr>
                            </m:sSubPr>
                            <m:e>
                              <m:r>
                                <a:rPr lang="en-AU" sz="2400" i="1"/>
                                <m:t>𝜃</m:t>
                              </m:r>
                            </m:e>
                            <m:sub>
                              <m:r>
                                <a:rPr lang="en-AU" sz="2400" i="1"/>
                                <m:t>𝑏</m:t>
                              </m:r>
                            </m:sub>
                          </m:sSub>
                        </m:e>
                      </m:d>
                      <m:r>
                        <a:rPr lang="en-AU" sz="2400" i="1"/>
                        <m:t>=</m:t>
                      </m:r>
                      <m:f>
                        <m:fPr>
                          <m:ctrlPr>
                            <a:rPr lang="en-AU" sz="2400" i="1"/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/>
                              </m:ctrlPr>
                            </m:sSubPr>
                            <m:e>
                              <m:r>
                                <a:rPr lang="en-AU" sz="2400" i="1"/>
                                <m:t>𝛼</m:t>
                              </m:r>
                            </m:e>
                            <m:sub>
                              <m:r>
                                <a:rPr lang="en-AU" sz="2400" i="1"/>
                                <m:t>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400" i="1"/>
                              </m:ctrlPr>
                            </m:sSubPr>
                            <m:e>
                              <m:r>
                                <a:rPr lang="en-AU" sz="2400" i="1"/>
                                <m:t>𝛼</m:t>
                              </m:r>
                            </m:e>
                            <m:sub>
                              <m:r>
                                <a:rPr lang="en-AU" sz="2400" i="1"/>
                                <m:t>𝑏</m:t>
                              </m:r>
                            </m:sub>
                          </m:sSub>
                          <m:r>
                            <a:rPr lang="en-AU" sz="2400" i="1"/>
                            <m:t>+</m:t>
                          </m:r>
                          <m:sSub>
                            <m:sSubPr>
                              <m:ctrlPr>
                                <a:rPr lang="en-AU" sz="2400" i="1"/>
                              </m:ctrlPr>
                            </m:sSubPr>
                            <m:e>
                              <m:r>
                                <a:rPr lang="en-AU" sz="2400" i="1"/>
                                <m:t>𝛽</m:t>
                              </m:r>
                            </m:e>
                            <m:sub>
                              <m:r>
                                <a:rPr lang="en-AU" sz="2400" i="1"/>
                                <m:t>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E99A17-C6B7-5A5C-5965-0E547C8E48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965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53628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4E210-19DC-E67B-D6B3-76C59E167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CC74-58C7-53DF-A5C0-FE1C0C172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Appendix C: Eligibility Filtering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24B8A-FD7F-6D03-D541-AD4F031F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39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69F6C7C-3173-57F4-0BA6-DEF632DE6D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AU" dirty="0">
                    <a:latin typeface="+mj-lt"/>
                  </a:rPr>
                  <a:t>Active</a:t>
                </a:r>
                <a:r>
                  <a:rPr lang="en-AU" dirty="0"/>
                  <a:t> – a belief with posterior effectiveness </a:t>
                </a:r>
                <a14:m>
                  <m:oMath xmlns:m="http://schemas.openxmlformats.org/officeDocument/2006/math">
                    <m:r>
                      <a:rPr lang="en-AU" i="1"/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AU" i="1"/>
                        </m:ctrlPr>
                      </m:dPr>
                      <m:e>
                        <m:sSub>
                          <m:sSubPr>
                            <m:ctrlPr>
                              <a:rPr lang="en-AU" i="1"/>
                            </m:ctrlPr>
                          </m:sSubPr>
                          <m:e>
                            <m:r>
                              <a:rPr lang="en-AU" i="1"/>
                              <m:t>𝜃</m:t>
                            </m:r>
                          </m:e>
                          <m:sub>
                            <m:r>
                              <a:rPr lang="en-AU" i="1"/>
                              <m:t>𝑏</m:t>
                            </m:r>
                          </m:sub>
                        </m:sSub>
                      </m:e>
                    </m:d>
                    <m:r>
                      <a:rPr lang="en-AU" i="1"/>
                      <m:t>≥0.65</m:t>
                    </m:r>
                  </m:oMath>
                </a14:m>
                <a:r>
                  <a:rPr lang="en-AU" dirty="0"/>
                  <a:t> with updates each of weight </a:t>
                </a:r>
                <a14:m>
                  <m:oMath xmlns:m="http://schemas.openxmlformats.org/officeDocument/2006/math">
                    <m:r>
                      <a:rPr lang="en-AU" i="1"/>
                      <m:t>𝑤</m:t>
                    </m:r>
                    <m:r>
                      <a:rPr lang="en-AU" i="1"/>
                      <m:t>≥0.10</m:t>
                    </m:r>
                  </m:oMath>
                </a14:m>
                <a:r>
                  <a:rPr lang="en-AU" dirty="0"/>
                  <a:t> from at least three topics</a:t>
                </a:r>
              </a:p>
              <a:p>
                <a:pPr lvl="0"/>
                <a:r>
                  <a:rPr lang="en-AU" dirty="0">
                    <a:latin typeface="+mj-lt"/>
                  </a:rPr>
                  <a:t>Contested</a:t>
                </a:r>
                <a:r>
                  <a:rPr lang="en-AU" dirty="0"/>
                  <a:t> – a belief with at least one eligible contradiction with weighted contradiction at least as large as its weighted support i.e. </a:t>
                </a:r>
                <a14:m>
                  <m:oMath xmlns:m="http://schemas.openxmlformats.org/officeDocument/2006/math">
                    <m:r>
                      <a:rPr lang="en-AU" i="1"/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AU" i="1"/>
                        </m:ctrlPr>
                      </m:dPr>
                      <m:e>
                        <m:sSub>
                          <m:sSubPr>
                            <m:ctrlPr>
                              <a:rPr lang="en-AU" i="1"/>
                            </m:ctrlPr>
                          </m:sSubPr>
                          <m:e>
                            <m:r>
                              <a:rPr lang="en-AU" i="1"/>
                              <m:t>𝜃</m:t>
                            </m:r>
                          </m:e>
                          <m:sub>
                            <m:r>
                              <a:rPr lang="en-AU" i="1"/>
                              <m:t>𝑏</m:t>
                            </m:r>
                          </m:sub>
                        </m:sSub>
                      </m:e>
                    </m:d>
                    <m:r>
                      <a:rPr lang="en-AU" i="1"/>
                      <m:t>≤0.50</m:t>
                    </m:r>
                  </m:oMath>
                </a14:m>
                <a:endParaRPr lang="en-AU" dirty="0"/>
              </a:p>
              <a:p>
                <a:pPr lvl="0"/>
                <a:r>
                  <a:rPr lang="en-AU" dirty="0">
                    <a:latin typeface="+mj-lt"/>
                  </a:rPr>
                  <a:t>Probationary</a:t>
                </a:r>
                <a:r>
                  <a:rPr lang="en-AU" dirty="0"/>
                  <a:t> – all remaining beliefs that weren’t classified as active or contested</a:t>
                </a:r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69F6C7C-3173-57F4-0BA6-DEF632DE6D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74617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B18F-0771-F5D7-65D4-1524DD763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A80CF-26FC-04F1-575B-7AC36E250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Appendix D: Contextual Applicability Score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8ECE6-2C65-77F4-5B89-E021FC3E5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40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7BF1D49-3082-45BB-6BE2-BFAB5C0483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0"/>
                <a:r>
                  <a:rPr lang="en-AU" dirty="0">
                    <a:latin typeface="+mj-lt"/>
                  </a:rPr>
                  <a:t>State</a:t>
                </a:r>
                <a:r>
                  <a:rPr lang="en-AU" dirty="0"/>
                  <a:t> – match (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AU" dirty="0"/>
                  <a:t>) or no match (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AU" dirty="0"/>
                  <a:t>)</a:t>
                </a:r>
              </a:p>
              <a:p>
                <a:r>
                  <a:rPr kumimoji="0" lang="en-A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anklin Gothic Medium" panose="020B0603020102020204"/>
                    <a:ea typeface="+mn-ea"/>
                    <a:cs typeface="+mn-cs"/>
                  </a:rPr>
                  <a:t>Problem</a:t>
                </a:r>
                <a:r>
                  <a:rPr lang="en-AU" dirty="0"/>
                  <a:t> – similarity between embedding vector of current problem and the belief problem description, </a:t>
                </a:r>
                <a14:m>
                  <m:oMath xmlns:m="http://schemas.openxmlformats.org/officeDocument/2006/math">
                    <m:r>
                      <a:rPr lang="en-AU" i="1"/>
                      <m:t>𝑃</m:t>
                    </m:r>
                    <m:r>
                      <a:rPr lang="en-AU" i="1"/>
                      <m:t>=</m:t>
                    </m:r>
                    <m:func>
                      <m:funcPr>
                        <m:ctrlPr>
                          <a:rPr lang="en-AU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/>
                          <m:t>max</m:t>
                        </m:r>
                      </m:fName>
                      <m:e>
                        <m:r>
                          <a:rPr lang="en-AU" i="1"/>
                          <m:t>(0,</m:t>
                        </m:r>
                        <m:func>
                          <m:funcPr>
                            <m:ctrlPr>
                              <a:rPr lang="en-AU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AU"/>
                              <m:t>cos</m:t>
                            </m:r>
                          </m:fName>
                          <m:e>
                            <m:r>
                              <a:rPr lang="en-AU" i="1"/>
                              <m:t>(</m:t>
                            </m:r>
                            <m:r>
                              <a:rPr lang="en-AU" b="1" i="1"/>
                              <m:t>𝒒</m:t>
                            </m:r>
                            <m:r>
                              <a:rPr lang="en-AU" i="1"/>
                              <m:t>,</m:t>
                            </m:r>
                            <m:r>
                              <a:rPr lang="en-AU" b="1" i="1"/>
                              <m:t>𝒃</m:t>
                            </m:r>
                            <m:r>
                              <a:rPr lang="en-AU" i="1"/>
                              <m:t>))</m:t>
                            </m:r>
                          </m:e>
                        </m:func>
                      </m:e>
                    </m:func>
                  </m:oMath>
                </a14:m>
                <a:endParaRPr lang="en-AU" dirty="0"/>
              </a:p>
              <a:p>
                <a:r>
                  <a:rPr lang="en-AU" dirty="0">
                    <a:solidFill>
                      <a:prstClr val="black"/>
                    </a:solidFill>
                    <a:latin typeface="Franklin Gothic Medium" panose="020B0603020102020204"/>
                  </a:rPr>
                  <a:t>Context</a:t>
                </a:r>
                <a:r>
                  <a:rPr lang="en-AU" dirty="0"/>
                  <a:t> – similarity between current problem and belief’s context tags,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AU" i="1"/>
                      <m:t>=</m:t>
                    </m:r>
                    <m:func>
                      <m:funcPr>
                        <m:ctrlPr>
                          <a:rPr lang="en-AU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/>
                          <m:t>max</m:t>
                        </m:r>
                      </m:fName>
                      <m:e>
                        <m:r>
                          <a:rPr lang="en-AU" i="1"/>
                          <m:t>(0,</m:t>
                        </m:r>
                        <m:func>
                          <m:funcPr>
                            <m:ctrlPr>
                              <a:rPr lang="en-AU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AU"/>
                              <m:t>cos</m:t>
                            </m:r>
                          </m:fName>
                          <m:e>
                            <m:r>
                              <a:rPr lang="en-AU" i="1"/>
                              <m:t>(</m:t>
                            </m:r>
                            <m:r>
                              <a:rPr lang="en-AU" b="1" i="1"/>
                              <m:t>𝒒</m:t>
                            </m:r>
                            <m:r>
                              <a:rPr lang="en-AU" i="1"/>
                              <m:t>,</m:t>
                            </m:r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AU" i="1"/>
                              <m:t>))</m:t>
                            </m:r>
                          </m:e>
                        </m:func>
                      </m:e>
                    </m:func>
                  </m:oMath>
                </a14:m>
                <a:r>
                  <a:rPr lang="en-AU" dirty="0">
                    <a:effectLst/>
                  </a:rPr>
                  <a:t> </a:t>
                </a:r>
                <a:endParaRPr lang="en-AU" dirty="0"/>
              </a:p>
              <a:p>
                <a:r>
                  <a:rPr lang="en-AU" dirty="0">
                    <a:solidFill>
                      <a:prstClr val="black"/>
                    </a:solidFill>
                    <a:latin typeface="Franklin Gothic Medium" panose="020B0603020102020204"/>
                  </a:rPr>
                  <a:t>Exact Error</a:t>
                </a:r>
                <a:r>
                  <a:rPr lang="en-AU" dirty="0">
                    <a:solidFill>
                      <a:prstClr val="black"/>
                    </a:solidFill>
                  </a:rPr>
                  <a:t> – used categorical scoring as below:</a:t>
                </a:r>
                <a:endParaRPr lang="en-AU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7BF1D49-3082-45BB-6BE2-BFAB5C0483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8EF9C6E-2604-3A52-E6DE-E96D8E6265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5550875"/>
                  </p:ext>
                </p:extLst>
              </p:nvPr>
            </p:nvGraphicFramePr>
            <p:xfrm>
              <a:off x="1162004" y="4658831"/>
              <a:ext cx="6349138" cy="183404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078056">
                      <a:extLst>
                        <a:ext uri="{9D8B030D-6E8A-4147-A177-3AD203B41FA5}">
                          <a16:colId xmlns:a16="http://schemas.microsoft.com/office/drawing/2014/main" val="1841786567"/>
                        </a:ext>
                      </a:extLst>
                    </a:gridCol>
                    <a:gridCol w="1271082">
                      <a:extLst>
                        <a:ext uri="{9D8B030D-6E8A-4147-A177-3AD203B41FA5}">
                          <a16:colId xmlns:a16="http://schemas.microsoft.com/office/drawing/2014/main" val="1168531911"/>
                        </a:ext>
                      </a:extLst>
                    </a:gridCol>
                  </a:tblGrid>
                  <a:tr h="305674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j-lt"/>
                            </a:rPr>
                            <a:t>Conditions</a:t>
                          </a:r>
                          <a:endParaRPr lang="en-AU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j-lt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j-lt"/>
                            </a:rPr>
                            <a:t>Value of </a:t>
                          </a:r>
                          <a14:m>
                            <m:oMath xmlns:m="http://schemas.openxmlformats.org/officeDocument/2006/math">
                              <m:r>
                                <a:rPr lang="en-AU" sz="1600" kern="100">
                                  <a:solidFill>
                                    <a:sysClr val="windowText" lastClr="000000"/>
                                  </a:solidFill>
                                  <a:effectLst/>
                                  <a:latin typeface="+mj-lt"/>
                                </a:rPr>
                                <m:t>𝑬</m:t>
                              </m:r>
                            </m:oMath>
                          </a14:m>
                          <a:endParaRPr lang="en-AU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j-lt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562795"/>
                      </a:ext>
                    </a:extLst>
                  </a:tr>
                  <a:tr h="305674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600" b="0" kern="1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Identifier and corresponding exception family matched</a:t>
                          </a:r>
                          <a:endParaRPr lang="en-AU" sz="1600" b="0" kern="100" dirty="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600" kern="100" dirty="0">
                              <a:effectLst/>
                            </a:rPr>
                            <a:t>1.00</a:t>
                          </a:r>
                          <a:endParaRPr lang="en-AU" sz="16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12363237"/>
                      </a:ext>
                    </a:extLst>
                  </a:tr>
                  <a:tr h="305674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600" b="0" kern="1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Identifier matched without exception family</a:t>
                          </a:r>
                          <a:endParaRPr lang="en-AU" sz="1600" b="0" kern="100" dirty="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600" kern="100" dirty="0">
                              <a:effectLst/>
                            </a:rPr>
                            <a:t>0.50</a:t>
                          </a:r>
                          <a:endParaRPr lang="en-AU" sz="16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68282159"/>
                      </a:ext>
                    </a:extLst>
                  </a:tr>
                  <a:tr h="305674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600" b="0" kern="1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Exception family alone matched</a:t>
                          </a:r>
                          <a:endParaRPr lang="en-AU" sz="1600" b="0" kern="100" dirty="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600" kern="100" dirty="0">
                              <a:effectLst/>
                            </a:rPr>
                            <a:t>0.25</a:t>
                          </a:r>
                          <a:endParaRPr lang="en-AU" sz="16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35273086"/>
                      </a:ext>
                    </a:extLst>
                  </a:tr>
                  <a:tr h="305674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600" b="0" kern="1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No match or a conflicting identifier was present</a:t>
                          </a:r>
                          <a:endParaRPr lang="en-AU" sz="1600" b="0" kern="100" dirty="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600" kern="100" dirty="0">
                              <a:effectLst/>
                            </a:rPr>
                            <a:t>0.00</a:t>
                          </a:r>
                          <a:endParaRPr lang="en-AU" sz="16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91830721"/>
                      </a:ext>
                    </a:extLst>
                  </a:tr>
                  <a:tr h="305674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600" b="0" kern="1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No exception or failure in current problem text</a:t>
                          </a:r>
                          <a:endParaRPr lang="en-AU" sz="1600" b="0" kern="100" dirty="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600" kern="100" dirty="0">
                              <a:effectLst/>
                            </a:rPr>
                            <a:t>0.00</a:t>
                          </a:r>
                          <a:endParaRPr lang="en-AU" sz="16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455698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8EF9C6E-2604-3A52-E6DE-E96D8E6265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5550875"/>
                  </p:ext>
                </p:extLst>
              </p:nvPr>
            </p:nvGraphicFramePr>
            <p:xfrm>
              <a:off x="1162004" y="4658831"/>
              <a:ext cx="6349138" cy="183404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078056">
                      <a:extLst>
                        <a:ext uri="{9D8B030D-6E8A-4147-A177-3AD203B41FA5}">
                          <a16:colId xmlns:a16="http://schemas.microsoft.com/office/drawing/2014/main" val="1841786567"/>
                        </a:ext>
                      </a:extLst>
                    </a:gridCol>
                    <a:gridCol w="1271082">
                      <a:extLst>
                        <a:ext uri="{9D8B030D-6E8A-4147-A177-3AD203B41FA5}">
                          <a16:colId xmlns:a16="http://schemas.microsoft.com/office/drawing/2014/main" val="1168531911"/>
                        </a:ext>
                      </a:extLst>
                    </a:gridCol>
                  </a:tblGrid>
                  <a:tr h="305674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j-lt"/>
                            </a:rPr>
                            <a:t>Conditions</a:t>
                          </a:r>
                          <a:endParaRPr lang="en-AU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j-lt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000" t="-16667" r="-1000" b="-5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562795"/>
                      </a:ext>
                    </a:extLst>
                  </a:tr>
                  <a:tr h="305674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600" b="0" kern="1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Identifier and corresponding exception family matched</a:t>
                          </a:r>
                          <a:endParaRPr lang="en-AU" sz="1600" b="0" kern="100" dirty="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600" kern="100" dirty="0">
                              <a:effectLst/>
                            </a:rPr>
                            <a:t>1.00</a:t>
                          </a:r>
                          <a:endParaRPr lang="en-AU" sz="16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12363237"/>
                      </a:ext>
                    </a:extLst>
                  </a:tr>
                  <a:tr h="305674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600" b="0" kern="1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Identifier matched without exception family</a:t>
                          </a:r>
                          <a:endParaRPr lang="en-AU" sz="1600" b="0" kern="100" dirty="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600" kern="100" dirty="0">
                              <a:effectLst/>
                            </a:rPr>
                            <a:t>0.50</a:t>
                          </a:r>
                          <a:endParaRPr lang="en-AU" sz="16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68282159"/>
                      </a:ext>
                    </a:extLst>
                  </a:tr>
                  <a:tr h="305674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600" b="0" kern="1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Exception family alone matched</a:t>
                          </a:r>
                          <a:endParaRPr lang="en-AU" sz="1600" b="0" kern="100" dirty="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600" kern="100" dirty="0">
                              <a:effectLst/>
                            </a:rPr>
                            <a:t>0.25</a:t>
                          </a:r>
                          <a:endParaRPr lang="en-AU" sz="16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35273086"/>
                      </a:ext>
                    </a:extLst>
                  </a:tr>
                  <a:tr h="305674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600" b="0" kern="1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No match or a conflicting identifier was present</a:t>
                          </a:r>
                          <a:endParaRPr lang="en-AU" sz="1600" b="0" kern="100" dirty="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600" kern="100" dirty="0">
                              <a:effectLst/>
                            </a:rPr>
                            <a:t>0.00</a:t>
                          </a:r>
                          <a:endParaRPr lang="en-AU" sz="16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91830721"/>
                      </a:ext>
                    </a:extLst>
                  </a:tr>
                  <a:tr h="305674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600" b="0" kern="1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No exception or failure in current problem text</a:t>
                          </a:r>
                          <a:endParaRPr lang="en-AU" sz="1600" b="0" kern="100" dirty="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AU" sz="1600" kern="100" dirty="0">
                              <a:effectLst/>
                            </a:rPr>
                            <a:t>0.00</a:t>
                          </a:r>
                          <a:endParaRPr lang="en-AU" sz="1600" kern="1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455698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756440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10748-9197-BA27-C4CD-B788B1545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Appendix E: Statistical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1961C0-D9E9-F033-7D5B-CFCC5CE5CE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Matched topic level differences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Effect and uncertainty</a:t>
                </a:r>
              </a:p>
              <a:p>
                <a:pPr lvl="1"/>
                <a:r>
                  <a:rPr lang="en-US" sz="2000" dirty="0"/>
                  <a:t>95% CI generated from 50,000 topic-level bootstrap resamples</a:t>
                </a:r>
              </a:p>
              <a:p>
                <a:pPr lvl="1"/>
                <a:r>
                  <a:rPr lang="en-US" sz="2000" dirty="0"/>
                  <a:t>Sample size of 90, chosen with replacement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Statistical significance</a:t>
                </a:r>
              </a:p>
              <a:p>
                <a:pPr lvl="1"/>
                <a:r>
                  <a:rPr lang="en-US" sz="2000" dirty="0"/>
                  <a:t>Two-sided paired sign-flip permutation tests with 200,000 permutations</a:t>
                </a: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Multiple comparisons</a:t>
                </a:r>
              </a:p>
              <a:p>
                <a:pPr lvl="1"/>
                <a:r>
                  <a:rPr lang="en-US" sz="2000" dirty="0"/>
                  <a:t>Holm’s step-down correction; used adjusted </a:t>
                </a:r>
                <a14:m>
                  <m:oMath xmlns:m="http://schemas.openxmlformats.org/officeDocument/2006/math">
                    <m:r>
                      <a:rPr lang="en-AU" sz="20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000" b="0" i="0" smtClean="0">
                        <a:latin typeface="Cambria Math" panose="02040503050406030204" pitchFamily="18" charset="0"/>
                      </a:rPr>
                      <m:t>&lt;.05</m:t>
                    </m:r>
                  </m:oMath>
                </a14:m>
                <a:r>
                  <a:rPr lang="en-US" sz="2000" dirty="0"/>
                  <a:t> for significance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1961C0-D9E9-F033-7D5B-CFCC5CE5CE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ACE19-99A4-F9B1-E608-344B2BACE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5280-66E8-4043-8135-C06CF6C06C1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59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7845</TotalTime>
  <Words>1684</Words>
  <Application>Microsoft Macintosh PowerPoint</Application>
  <PresentationFormat>Widescreen</PresentationFormat>
  <Paragraphs>403</Paragraphs>
  <Slides>41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Aptos</vt:lpstr>
      <vt:lpstr>Arial</vt:lpstr>
      <vt:lpstr>Cambria Math</vt:lpstr>
      <vt:lpstr>Franklin Gothic Book</vt:lpstr>
      <vt:lpstr>Franklin Gothic Medium</vt:lpstr>
      <vt:lpstr>Times New Roman</vt:lpstr>
      <vt:lpstr>Office Theme</vt:lpstr>
      <vt:lpstr>Experienced-Based Belief Learning for Structured Animation Code Generation</vt:lpstr>
      <vt:lpstr>Structured Animation Code</vt:lpstr>
      <vt:lpstr>Code2Video</vt:lpstr>
      <vt:lpstr>PowerPoint Presentation</vt:lpstr>
      <vt:lpstr>Forgotten Experience</vt:lpstr>
      <vt:lpstr>MAS Architecture</vt:lpstr>
      <vt:lpstr>MAS Architecture</vt:lpstr>
      <vt:lpstr>Belief Generation Pipeline</vt:lpstr>
      <vt:lpstr>Belief Generation Pipeline</vt:lpstr>
      <vt:lpstr>Belief Generation Pipeline – Stage 1</vt:lpstr>
      <vt:lpstr>Belief Generation Pipeline – Stage 2</vt:lpstr>
      <vt:lpstr>Belief Generation Pipeline – Stage 3</vt:lpstr>
      <vt:lpstr>Belief Generation Pipeline</vt:lpstr>
      <vt:lpstr>Belief Selection Pipeline</vt:lpstr>
      <vt:lpstr>Belief Selection Framework</vt:lpstr>
      <vt:lpstr>Belief Selection Framework – Stage 1</vt:lpstr>
      <vt:lpstr>Belief Selection Framework – Stage 2</vt:lpstr>
      <vt:lpstr>Belief Selection Framework – Stage 3</vt:lpstr>
      <vt:lpstr>Belief Selection Pipeline</vt:lpstr>
      <vt:lpstr>Injection Scopes</vt:lpstr>
      <vt:lpstr>Experiment 1: General Improvement</vt:lpstr>
      <vt:lpstr>Experiment 1: General Improvement</vt:lpstr>
      <vt:lpstr>Experiment 1: General Improvement</vt:lpstr>
      <vt:lpstr>Experiment 2: Injection Scope</vt:lpstr>
      <vt:lpstr>Experiment 2: Injection Scope</vt:lpstr>
      <vt:lpstr>Experiment 2: Injection Scope</vt:lpstr>
      <vt:lpstr>Why Injection Scope Matters</vt:lpstr>
      <vt:lpstr>Why Injection Scope Matters</vt:lpstr>
      <vt:lpstr>Why Injection Scope Matters</vt:lpstr>
      <vt:lpstr>Why Injection Scope Matters</vt:lpstr>
      <vt:lpstr>Experiment 3: Transferability</vt:lpstr>
      <vt:lpstr>Experiment 3: Transferability</vt:lpstr>
      <vt:lpstr>Experiment 3: Transferability</vt:lpstr>
      <vt:lpstr>Conclusions and Future Work</vt:lpstr>
      <vt:lpstr>Conclusions and Future Work</vt:lpstr>
      <vt:lpstr>References</vt:lpstr>
      <vt:lpstr>Appendix A: Evidence Gathering Scores</vt:lpstr>
      <vt:lpstr>Appendix B: Belief Effectiveness Update</vt:lpstr>
      <vt:lpstr>Appendix C: Eligibility Filtering</vt:lpstr>
      <vt:lpstr>Appendix D: Contextual Applicability Score</vt:lpstr>
      <vt:lpstr>Appendix E: Statistical Method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Then (23432725)</dc:creator>
  <cp:lastModifiedBy>Joshua Then (23432725)</cp:lastModifiedBy>
  <cp:revision>18</cp:revision>
  <dcterms:created xsi:type="dcterms:W3CDTF">2026-08-28T02:12:31Z</dcterms:created>
  <dcterms:modified xsi:type="dcterms:W3CDTF">2026-09-29T02:03:18Z</dcterms:modified>
</cp:coreProperties>
</file>